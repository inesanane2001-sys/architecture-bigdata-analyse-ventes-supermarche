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9" r:id="rId3"/>
    <p:sldId id="315" r:id="rId4"/>
    <p:sldId id="257" r:id="rId5"/>
    <p:sldId id="259" r:id="rId6"/>
    <p:sldId id="258" r:id="rId7"/>
    <p:sldId id="260" r:id="rId8"/>
    <p:sldId id="264" r:id="rId9"/>
    <p:sldId id="265" r:id="rId10"/>
    <p:sldId id="267" r:id="rId11"/>
    <p:sldId id="266" r:id="rId12"/>
    <p:sldId id="268" r:id="rId13"/>
    <p:sldId id="269" r:id="rId14"/>
    <p:sldId id="270" r:id="rId15"/>
    <p:sldId id="272" r:id="rId16"/>
    <p:sldId id="271" r:id="rId17"/>
    <p:sldId id="277" r:id="rId18"/>
    <p:sldId id="276" r:id="rId19"/>
    <p:sldId id="273" r:id="rId20"/>
    <p:sldId id="278" r:id="rId21"/>
    <p:sldId id="274" r:id="rId22"/>
    <p:sldId id="275" r:id="rId23"/>
    <p:sldId id="280" r:id="rId24"/>
    <p:sldId id="261" r:id="rId25"/>
    <p:sldId id="292" r:id="rId26"/>
    <p:sldId id="293" r:id="rId27"/>
    <p:sldId id="294" r:id="rId28"/>
    <p:sldId id="295" r:id="rId29"/>
    <p:sldId id="282" r:id="rId30"/>
    <p:sldId id="283" r:id="rId31"/>
    <p:sldId id="284" r:id="rId32"/>
    <p:sldId id="288" r:id="rId33"/>
    <p:sldId id="302" r:id="rId34"/>
    <p:sldId id="297" r:id="rId35"/>
    <p:sldId id="303" r:id="rId36"/>
    <p:sldId id="305" r:id="rId37"/>
    <p:sldId id="306" r:id="rId38"/>
    <p:sldId id="301" r:id="rId39"/>
    <p:sldId id="317" r:id="rId40"/>
    <p:sldId id="307" r:id="rId41"/>
    <p:sldId id="308" r:id="rId42"/>
    <p:sldId id="304" r:id="rId43"/>
    <p:sldId id="309" r:id="rId44"/>
    <p:sldId id="281" r:id="rId45"/>
    <p:sldId id="262" r:id="rId46"/>
    <p:sldId id="310" r:id="rId47"/>
    <p:sldId id="311" r:id="rId48"/>
    <p:sldId id="312" r:id="rId49"/>
    <p:sldId id="313" r:id="rId50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-1930" y="-4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20FD4-1DCE-44E5-941B-076F0C8CFB4C}" type="datetimeFigureOut">
              <a:rPr lang="fr-FR" smtClean="0"/>
              <a:t>22/03/2025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D4952-2E29-4974-AA61-3B05838706F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20FD4-1DCE-44E5-941B-076F0C8CFB4C}" type="datetimeFigureOut">
              <a:rPr lang="fr-FR" smtClean="0"/>
              <a:t>22/03/2025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D4952-2E29-4974-AA61-3B05838706F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20FD4-1DCE-44E5-941B-076F0C8CFB4C}" type="datetimeFigureOut">
              <a:rPr lang="fr-FR" smtClean="0"/>
              <a:t>22/03/2025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D4952-2E29-4974-AA61-3B05838706F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20FD4-1DCE-44E5-941B-076F0C8CFB4C}" type="datetimeFigureOut">
              <a:rPr lang="fr-FR" smtClean="0"/>
              <a:t>22/03/2025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D4952-2E29-4974-AA61-3B05838706F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20FD4-1DCE-44E5-941B-076F0C8CFB4C}" type="datetimeFigureOut">
              <a:rPr lang="fr-FR" smtClean="0"/>
              <a:t>22/03/2025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D4952-2E29-4974-AA61-3B05838706F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20FD4-1DCE-44E5-941B-076F0C8CFB4C}" type="datetimeFigureOut">
              <a:rPr lang="fr-FR" smtClean="0"/>
              <a:t>22/03/2025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D4952-2E29-4974-AA61-3B05838706F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20FD4-1DCE-44E5-941B-076F0C8CFB4C}" type="datetimeFigureOut">
              <a:rPr lang="fr-FR" smtClean="0"/>
              <a:t>22/03/2025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D4952-2E29-4974-AA61-3B05838706F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20FD4-1DCE-44E5-941B-076F0C8CFB4C}" type="datetimeFigureOut">
              <a:rPr lang="fr-FR" smtClean="0"/>
              <a:t>22/03/2025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D4952-2E29-4974-AA61-3B05838706F8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20FD4-1DCE-44E5-941B-076F0C8CFB4C}" type="datetimeFigureOut">
              <a:rPr lang="fr-FR" smtClean="0"/>
              <a:t>22/03/2025</a:t>
            </a:fld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4D4952-2E29-4974-AA61-3B05838706F8}" type="slidenum">
              <a:rPr lang="fr-FR" smtClean="0"/>
              <a:t>‹N°›</a:t>
            </a:fld>
            <a:endParaRPr lang="fr-FR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20FD4-1DCE-44E5-941B-076F0C8CFB4C}" type="datetimeFigureOut">
              <a:rPr lang="fr-FR" smtClean="0"/>
              <a:t>22/03/2025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D4952-2E29-4974-AA61-3B05838706F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20FD4-1DCE-44E5-941B-076F0C8CFB4C}" type="datetimeFigureOut">
              <a:rPr lang="fr-FR" smtClean="0"/>
              <a:t>22/03/2025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D4952-2E29-4974-AA61-3B05838706F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CE4D4952-2E29-4974-AA61-3B05838706F8}" type="slidenum">
              <a:rPr lang="fr-FR" smtClean="0"/>
              <a:t>‹N°›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ABE20FD4-1DCE-44E5-941B-076F0C8CFB4C}" type="datetimeFigureOut">
              <a:rPr lang="fr-FR" smtClean="0"/>
              <a:t>22/03/2025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archive.apache.org/dist/kafka/0.8.2.2/kafka_2.10-0.8.2.2.tgz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fr-FR" b="1" spc="0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Guide de projet </a:t>
            </a:r>
            <a:r>
              <a:rPr lang="fr-FR" b="1" spc="0" dirty="0" err="1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Big</a:t>
            </a:r>
            <a:r>
              <a:rPr lang="fr-FR" b="1" spc="0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3848" y="5661248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marL="114300" indent="0">
              <a:buNone/>
            </a:pPr>
            <a:r>
              <a:rPr lang="fr-FR" b="1" dirty="0" smtClean="0">
                <a:solidFill>
                  <a:schemeClr val="accent5">
                    <a:lumMod val="50000"/>
                  </a:schemeClr>
                </a:solidFill>
              </a:rPr>
              <a:t>ANANE </a:t>
            </a:r>
            <a:r>
              <a:rPr lang="fr-FR" b="1" dirty="0" err="1">
                <a:solidFill>
                  <a:schemeClr val="accent5">
                    <a:lumMod val="50000"/>
                  </a:schemeClr>
                </a:solidFill>
              </a:rPr>
              <a:t>I</a:t>
            </a:r>
            <a:r>
              <a:rPr lang="fr-FR" b="1" dirty="0" err="1" smtClean="0">
                <a:solidFill>
                  <a:schemeClr val="accent5">
                    <a:lumMod val="50000"/>
                  </a:schemeClr>
                </a:solidFill>
              </a:rPr>
              <a:t>nes</a:t>
            </a:r>
            <a:endParaRPr lang="fr-FR" b="1" dirty="0">
              <a:solidFill>
                <a:schemeClr val="accent5">
                  <a:lumMod val="50000"/>
                </a:schemeClr>
              </a:solidFill>
            </a:endParaRPr>
          </a:p>
          <a:p>
            <a:pPr marL="114300" indent="0">
              <a:buNone/>
            </a:pPr>
            <a:r>
              <a:rPr lang="fr-FR" b="1" dirty="0" smtClean="0">
                <a:solidFill>
                  <a:schemeClr val="accent5">
                    <a:lumMod val="50000"/>
                  </a:schemeClr>
                </a:solidFill>
              </a:rPr>
              <a:t>BEN NACEUR </a:t>
            </a:r>
            <a:r>
              <a:rPr lang="fr-FR" b="1" dirty="0" err="1">
                <a:solidFill>
                  <a:schemeClr val="accent5">
                    <a:lumMod val="50000"/>
                  </a:schemeClr>
                </a:solidFill>
              </a:rPr>
              <a:t>Z</a:t>
            </a:r>
            <a:r>
              <a:rPr lang="fr-FR" b="1" dirty="0" err="1" smtClean="0">
                <a:solidFill>
                  <a:schemeClr val="accent5">
                    <a:lumMod val="50000"/>
                  </a:schemeClr>
                </a:solidFill>
              </a:rPr>
              <a:t>eineb</a:t>
            </a:r>
            <a:r>
              <a:rPr lang="fr-FR" dirty="0" smtClean="0"/>
              <a:t/>
            </a:r>
            <a:br>
              <a:rPr lang="fr-FR" dirty="0" smtClean="0"/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85660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95536" y="2996952"/>
            <a:ext cx="7620000" cy="1143000"/>
          </a:xfrm>
        </p:spPr>
        <p:txBody>
          <a:bodyPr/>
          <a:lstStyle/>
          <a:p>
            <a:r>
              <a:rPr lang="fr-FR" dirty="0" smtClean="0"/>
              <a:t>IMPORTATION DE </a:t>
            </a:r>
            <a:r>
              <a:rPr lang="fr-FR" dirty="0" smtClean="0">
                <a:solidFill>
                  <a:srgbClr val="FF0000"/>
                </a:solidFill>
              </a:rPr>
              <a:t>CLOUDERA</a:t>
            </a:r>
            <a:endParaRPr lang="fr-F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811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Télèchargement</a:t>
            </a:r>
            <a:r>
              <a:rPr lang="fr-FR" dirty="0" smtClean="0"/>
              <a:t> :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600200"/>
            <a:ext cx="8280920" cy="480060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fr-FR" sz="1600" dirty="0"/>
              <a:t>https://downloads.cloudera.com/demo_vm/virtualbox/cloudera-quickstart-vm-5.13.0-0-virtualbox.zip</a:t>
            </a:r>
          </a:p>
          <a:p>
            <a:endParaRPr lang="fr-FR" sz="1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3789040"/>
            <a:ext cx="5472608" cy="194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18226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Importation de </a:t>
            </a:r>
            <a:r>
              <a:rPr lang="fr-FR" dirty="0" err="1"/>
              <a:t>C</a:t>
            </a:r>
            <a:r>
              <a:rPr lang="fr-FR" dirty="0" err="1" smtClean="0"/>
              <a:t>loudera</a:t>
            </a:r>
            <a:endParaRPr lang="fr-FR" dirty="0"/>
          </a:p>
        </p:txBody>
      </p:sp>
      <p:pic>
        <p:nvPicPr>
          <p:cNvPr id="1026" name="Picture 2" descr="C:\Users\INES\Documents\BGAI\BIG_DATA\cloudera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56793"/>
            <a:ext cx="9144000" cy="5301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7121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INES\Documents\BGAI\BIG_DATA\clouder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13513"/>
            <a:ext cx="4608512" cy="781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82" y="2276872"/>
            <a:ext cx="9127318" cy="456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232" y="784492"/>
            <a:ext cx="1440160" cy="555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-5680" y="1340117"/>
            <a:ext cx="5336525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4600" dirty="0" smtClean="0">
                <a:solidFill>
                  <a:schemeClr val="tx2"/>
                </a:solidFill>
              </a:rPr>
              <a:t>Interface de </a:t>
            </a:r>
            <a:r>
              <a:rPr lang="fr-FR" sz="4600" dirty="0" err="1">
                <a:solidFill>
                  <a:schemeClr val="tx2"/>
                </a:solidFill>
              </a:rPr>
              <a:t>C</a:t>
            </a:r>
            <a:r>
              <a:rPr lang="fr-FR" sz="4600" dirty="0" err="1" smtClean="0">
                <a:solidFill>
                  <a:schemeClr val="tx2"/>
                </a:solidFill>
              </a:rPr>
              <a:t>loudera</a:t>
            </a:r>
            <a:endParaRPr lang="fr-FR" sz="4600" dirty="0" smtClean="0">
              <a:solidFill>
                <a:schemeClr val="tx2"/>
              </a:solidFill>
            </a:endParaRPr>
          </a:p>
          <a:p>
            <a:endParaRPr lang="fr-FR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932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-53076" y="-315416"/>
            <a:ext cx="7620000" cy="1143000"/>
          </a:xfrm>
        </p:spPr>
        <p:txBody>
          <a:bodyPr/>
          <a:lstStyle/>
          <a:p>
            <a:r>
              <a:rPr lang="fr-FR" dirty="0" smtClean="0"/>
              <a:t>Les commandes</a:t>
            </a:r>
            <a:endParaRPr lang="fr-FR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8521" y="1556792"/>
            <a:ext cx="4469237" cy="86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Ellipse 3"/>
          <p:cNvSpPr/>
          <p:nvPr/>
        </p:nvSpPr>
        <p:spPr>
          <a:xfrm>
            <a:off x="3635896" y="5625244"/>
            <a:ext cx="4820709" cy="122413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6" name="Connecteur en angle 5"/>
          <p:cNvCxnSpPr>
            <a:endCxn id="14" idx="2"/>
          </p:cNvCxnSpPr>
          <p:nvPr/>
        </p:nvCxnSpPr>
        <p:spPr>
          <a:xfrm>
            <a:off x="539552" y="2420888"/>
            <a:ext cx="3096344" cy="1192778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34" y="4749145"/>
            <a:ext cx="4336783" cy="552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/>
        </p:nvSpPr>
        <p:spPr>
          <a:xfrm>
            <a:off x="3743908" y="6052646"/>
            <a:ext cx="43728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</a:rPr>
              <a:t>pour confirmer quel utilisateur est connecté 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3635896" y="3001598"/>
            <a:ext cx="4820709" cy="122413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Cela signifie que je suis bien dans l'environnement </a:t>
            </a:r>
            <a:r>
              <a:rPr lang="fr-FR" dirty="0" err="1" smtClean="0"/>
              <a:t>Cloudera</a:t>
            </a:r>
            <a:r>
              <a:rPr lang="fr-FR" dirty="0" smtClean="0"/>
              <a:t> sous Linux.</a:t>
            </a:r>
            <a:endParaRPr lang="fr-FR" dirty="0"/>
          </a:p>
        </p:txBody>
      </p:sp>
      <p:cxnSp>
        <p:nvCxnSpPr>
          <p:cNvPr id="15" name="Connecteur en angle 14"/>
          <p:cNvCxnSpPr/>
          <p:nvPr/>
        </p:nvCxnSpPr>
        <p:spPr>
          <a:xfrm>
            <a:off x="695675" y="5301208"/>
            <a:ext cx="2952328" cy="1008112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818575" y="4225734"/>
            <a:ext cx="9605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err="1" smtClean="0"/>
              <a:t>whoami</a:t>
            </a:r>
            <a:endParaRPr lang="fr-FR" dirty="0"/>
          </a:p>
        </p:txBody>
      </p:sp>
      <p:cxnSp>
        <p:nvCxnSpPr>
          <p:cNvPr id="9" name="Connecteur en arc 8"/>
          <p:cNvCxnSpPr/>
          <p:nvPr/>
        </p:nvCxnSpPr>
        <p:spPr>
          <a:xfrm>
            <a:off x="225033" y="548680"/>
            <a:ext cx="818575" cy="544706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084804" y="908720"/>
            <a:ext cx="6542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err="1" smtClean="0"/>
              <a:t>Pwd</a:t>
            </a:r>
            <a:r>
              <a:rPr lang="fr-FR" dirty="0" smtClean="0"/>
              <a:t> </a:t>
            </a:r>
            <a:endParaRPr lang="fr-FR" dirty="0"/>
          </a:p>
        </p:txBody>
      </p:sp>
      <p:cxnSp>
        <p:nvCxnSpPr>
          <p:cNvPr id="17" name="Connecteur en arc 16"/>
          <p:cNvCxnSpPr/>
          <p:nvPr/>
        </p:nvCxnSpPr>
        <p:spPr>
          <a:xfrm>
            <a:off x="0" y="3940298"/>
            <a:ext cx="818575" cy="544706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1383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9552" y="404664"/>
            <a:ext cx="7620000" cy="1143000"/>
          </a:xfrm>
        </p:spPr>
        <p:txBody>
          <a:bodyPr/>
          <a:lstStyle/>
          <a:p>
            <a:r>
              <a:rPr lang="fr-FR" dirty="0" smtClean="0"/>
              <a:t>1 ére </a:t>
            </a:r>
            <a:r>
              <a:rPr lang="fr-FR" dirty="0"/>
              <a:t>vérification</a:t>
            </a:r>
            <a:r>
              <a:rPr lang="fr-FR" dirty="0" smtClean="0"/>
              <a:t> :S’il existe </a:t>
            </a:r>
            <a:r>
              <a:rPr lang="fr-FR" b="1" i="1" u="sng" dirty="0" smtClean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KAFKA</a:t>
            </a:r>
            <a:r>
              <a:rPr lang="fr-FR" dirty="0" smtClean="0"/>
              <a:t/>
            </a:r>
            <a:br>
              <a:rPr lang="fr-FR" dirty="0" smtClean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978" y="1772816"/>
            <a:ext cx="7620000" cy="4800600"/>
          </a:xfrm>
        </p:spPr>
        <p:txBody>
          <a:bodyPr/>
          <a:lstStyle/>
          <a:p>
            <a:pPr marL="114300" indent="0">
              <a:buNone/>
            </a:pPr>
            <a:r>
              <a:rPr lang="fr-FR" b="1" dirty="0" smtClean="0"/>
              <a:t>            </a:t>
            </a:r>
            <a:r>
              <a:rPr lang="fr-FR" dirty="0" smtClean="0"/>
              <a:t>ls </a:t>
            </a:r>
            <a:r>
              <a:rPr lang="fr-FR" dirty="0"/>
              <a:t>/usr/lib | </a:t>
            </a:r>
            <a:r>
              <a:rPr lang="fr-FR" dirty="0" err="1"/>
              <a:t>grep</a:t>
            </a:r>
            <a:r>
              <a:rPr lang="fr-FR" dirty="0"/>
              <a:t> </a:t>
            </a:r>
            <a:r>
              <a:rPr lang="fr-FR" dirty="0" err="1"/>
              <a:t>kafka</a:t>
            </a:r>
            <a:r>
              <a:rPr lang="fr-FR" dirty="0"/>
              <a:t/>
            </a:r>
            <a:br>
              <a:rPr lang="fr-FR" dirty="0"/>
            </a:br>
            <a:endParaRPr lang="fr-FR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855" y="2348880"/>
            <a:ext cx="5520959" cy="259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Flèche vers le bas 3"/>
          <p:cNvSpPr/>
          <p:nvPr/>
        </p:nvSpPr>
        <p:spPr>
          <a:xfrm>
            <a:off x="4971846" y="4904049"/>
            <a:ext cx="1296144" cy="86409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/>
          <p:cNvSpPr/>
          <p:nvPr/>
        </p:nvSpPr>
        <p:spPr>
          <a:xfrm>
            <a:off x="4630031" y="6237312"/>
            <a:ext cx="19797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>
                <a:solidFill>
                  <a:schemeClr val="bg2">
                    <a:lumMod val="50000"/>
                  </a:schemeClr>
                </a:solidFill>
              </a:rPr>
              <a:t>KAFKA</a:t>
            </a:r>
            <a:r>
              <a:rPr lang="fr-FR" b="1" dirty="0" smtClean="0"/>
              <a:t> n’existe pas</a:t>
            </a:r>
            <a:endParaRPr lang="fr-FR" dirty="0"/>
          </a:p>
        </p:txBody>
      </p:sp>
      <p:cxnSp>
        <p:nvCxnSpPr>
          <p:cNvPr id="7" name="Connecteur en arc 6"/>
          <p:cNvCxnSpPr/>
          <p:nvPr/>
        </p:nvCxnSpPr>
        <p:spPr>
          <a:xfrm>
            <a:off x="107504" y="1556792"/>
            <a:ext cx="818575" cy="432048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7562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9972" y="-171400"/>
            <a:ext cx="7620000" cy="1143000"/>
          </a:xfrm>
        </p:spPr>
        <p:txBody>
          <a:bodyPr/>
          <a:lstStyle/>
          <a:p>
            <a:r>
              <a:rPr lang="fr-FR" dirty="0" smtClean="0">
                <a:solidFill>
                  <a:schemeClr val="bg2">
                    <a:lumMod val="50000"/>
                  </a:schemeClr>
                </a:solidFill>
              </a:rPr>
              <a:t>INSTALLATION DE KAFKA</a:t>
            </a:r>
            <a:endParaRPr lang="fr-FR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3608" y="2024558"/>
            <a:ext cx="81369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err="1"/>
              <a:t>wget</a:t>
            </a:r>
            <a:r>
              <a:rPr lang="fr-FR" dirty="0"/>
              <a:t> https://archive.apache.org/dist/kafka/0.8.2.2/kafka_2.10-0.8.2.2.tgz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80728"/>
            <a:ext cx="4437369" cy="8002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4600" dirty="0">
                <a:solidFill>
                  <a:schemeClr val="tx2"/>
                </a:solidFill>
              </a:rPr>
              <a:t>Les </a:t>
            </a:r>
            <a:r>
              <a:rPr lang="fr-FR" sz="4600" dirty="0" smtClean="0">
                <a:solidFill>
                  <a:schemeClr val="tx2"/>
                </a:solidFill>
              </a:rPr>
              <a:t>commandes : </a:t>
            </a:r>
            <a:endParaRPr lang="fr-FR" sz="4600" dirty="0">
              <a:solidFill>
                <a:schemeClr val="tx2"/>
              </a:solidFill>
            </a:endParaRPr>
          </a:p>
        </p:txBody>
      </p:sp>
      <p:cxnSp>
        <p:nvCxnSpPr>
          <p:cNvPr id="8" name="Connecteur en arc 7"/>
          <p:cNvCxnSpPr/>
          <p:nvPr/>
        </p:nvCxnSpPr>
        <p:spPr>
          <a:xfrm rot="16200000" flipH="1">
            <a:off x="121347" y="1686963"/>
            <a:ext cx="580424" cy="464097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694" y="2636912"/>
            <a:ext cx="6462902" cy="15750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riangle isocèle 10"/>
          <p:cNvSpPr/>
          <p:nvPr/>
        </p:nvSpPr>
        <p:spPr>
          <a:xfrm>
            <a:off x="1967354" y="4211978"/>
            <a:ext cx="4548862" cy="2646021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L’</a:t>
            </a:r>
            <a:r>
              <a:rPr lang="fr-FR" sz="2000" b="1" dirty="0" smtClean="0">
                <a:solidFill>
                  <a:srgbClr val="FF0000"/>
                </a:solidFill>
              </a:rPr>
              <a:t>erreur </a:t>
            </a:r>
            <a:r>
              <a:rPr lang="fr-FR" dirty="0" smtClean="0"/>
              <a:t>est liée à la </a:t>
            </a:r>
            <a:r>
              <a:rPr lang="fr-FR" b="1" i="1" u="sng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vérification du certificat SSL </a:t>
            </a:r>
            <a:r>
              <a:rPr lang="fr-FR" dirty="0" smtClean="0"/>
              <a:t>lors de la connexion au site </a:t>
            </a:r>
            <a:r>
              <a:rPr lang="fr-FR" i="1" u="sng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archive,apache,org</a:t>
            </a:r>
            <a:r>
              <a:rPr lang="fr-FR" i="1" u="sng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fr-FR" i="1" u="sng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12207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95536" y="-171400"/>
            <a:ext cx="7620000" cy="1143000"/>
          </a:xfrm>
        </p:spPr>
        <p:txBody>
          <a:bodyPr/>
          <a:lstStyle/>
          <a:p>
            <a:r>
              <a:rPr lang="fr-FR" dirty="0" smtClean="0"/>
              <a:t>Solution :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35925" y="858795"/>
            <a:ext cx="7620000" cy="4800600"/>
          </a:xfrm>
        </p:spPr>
        <p:txBody>
          <a:bodyPr/>
          <a:lstStyle/>
          <a:p>
            <a:pPr marL="114300" indent="0">
              <a:buNone/>
            </a:pPr>
            <a:r>
              <a:rPr lang="fr-FR" b="1" i="1" u="sng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 a  </a:t>
            </a:r>
            <a:r>
              <a:rPr lang="fr-FR" b="1" i="1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é</a:t>
            </a:r>
            <a:r>
              <a:rPr lang="fr-FR" b="1" i="1" u="sng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crit </a:t>
            </a:r>
            <a:r>
              <a:rPr lang="fr-FR" b="1" i="1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 lien  </a:t>
            </a:r>
            <a:r>
              <a:rPr lang="fr-FR" b="1" i="1" u="sng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dans  web Browser </a:t>
            </a:r>
            <a:r>
              <a:rPr lang="fr-FR" dirty="0"/>
              <a:t/>
            </a:r>
            <a:br>
              <a:rPr lang="fr-FR" dirty="0"/>
            </a:br>
            <a:r>
              <a:rPr lang="fr-FR" dirty="0"/>
              <a:t>          </a:t>
            </a:r>
            <a:r>
              <a:rPr lang="fr-FR" b="1" dirty="0" smtClean="0"/>
              <a:t/>
            </a:r>
            <a:br>
              <a:rPr lang="fr-FR" b="1" dirty="0" smtClean="0"/>
            </a:br>
            <a:endParaRPr lang="fr-FR" b="1" dirty="0" smtClean="0"/>
          </a:p>
          <a:p>
            <a:pPr marL="114300" indent="0">
              <a:buNone/>
            </a:pPr>
            <a:r>
              <a:rPr lang="fr-FR" u="sng" dirty="0" smtClean="0">
                <a:hlinkClick r:id="rId2"/>
              </a:rPr>
              <a:t> https</a:t>
            </a:r>
            <a:r>
              <a:rPr lang="fr-FR" u="sng" dirty="0">
                <a:hlinkClick r:id="rId2"/>
              </a:rPr>
              <a:t>://archive.apache.org/dist/kafka/0.8.2.2/kafka_2.10-0.8.2.2.tgz</a:t>
            </a:r>
            <a:r>
              <a:rPr lang="fr-FR" dirty="0"/>
              <a:t/>
            </a:r>
            <a:br>
              <a:rPr lang="fr-FR" dirty="0"/>
            </a:br>
            <a:r>
              <a:rPr lang="fr-FR" b="1" dirty="0" smtClean="0"/>
              <a:t/>
            </a:r>
            <a:br>
              <a:rPr lang="fr-FR" b="1" dirty="0" smtClean="0"/>
            </a:br>
            <a:endParaRPr lang="fr-FR" b="1" dirty="0"/>
          </a:p>
          <a:p>
            <a:pPr marL="114300" indent="0">
              <a:buNone/>
            </a:pPr>
            <a:endParaRPr lang="fr-FR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564904"/>
            <a:ext cx="6444208" cy="3694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107504" y="6381328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marL="114300" indent="0">
              <a:buNone/>
            </a:pPr>
            <a:r>
              <a:rPr lang="fr-FR" b="1" i="1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On a cliqué </a:t>
            </a:r>
            <a:r>
              <a:rPr lang="fr-FR" b="1" i="1" u="sng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sur </a:t>
            </a:r>
            <a:r>
              <a:rPr lang="fr-FR" b="1" i="1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r>
              <a:rPr lang="fr-FR" b="1" i="1" u="sng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dvanced et  </a:t>
            </a:r>
            <a:r>
              <a:rPr lang="fr-FR" b="1" i="1" u="sng" dirty="0" err="1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</a:t>
            </a:r>
            <a:r>
              <a:rPr lang="fr-FR" b="1" i="1" u="sng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Exception</a:t>
            </a:r>
            <a:endParaRPr lang="fr-FR" dirty="0"/>
          </a:p>
        </p:txBody>
      </p:sp>
      <p:cxnSp>
        <p:nvCxnSpPr>
          <p:cNvPr id="7" name="Connecteur en arc 6"/>
          <p:cNvCxnSpPr/>
          <p:nvPr/>
        </p:nvCxnSpPr>
        <p:spPr>
          <a:xfrm rot="16200000" flipH="1">
            <a:off x="-179621" y="1701715"/>
            <a:ext cx="792088" cy="214210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84754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7504" y="188640"/>
            <a:ext cx="7969696" cy="6480720"/>
          </a:xfrm>
        </p:spPr>
        <p:txBody>
          <a:bodyPr/>
          <a:lstStyle/>
          <a:p>
            <a:pPr marL="114300" indent="0">
              <a:buNone/>
            </a:pPr>
            <a:r>
              <a:rPr lang="fr-FR" dirty="0" smtClean="0"/>
              <a:t>Après en clique  sur : </a:t>
            </a:r>
            <a:r>
              <a:rPr lang="fr-FR" b="1" i="1" u="sng" dirty="0" err="1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Confirm</a:t>
            </a:r>
            <a:r>
              <a:rPr lang="fr-FR" b="1" i="1" u="sng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Security Exception</a:t>
            </a:r>
          </a:p>
          <a:p>
            <a:pPr marL="114300" indent="0">
              <a:buNone/>
            </a:pPr>
            <a:endParaRPr lang="fr-FR" b="1" i="1" u="sng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14300" indent="0">
              <a:buNone/>
            </a:pPr>
            <a:endParaRPr lang="fr-FR" b="1" i="1" u="sng" dirty="0" smtClean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14300" indent="0">
              <a:buNone/>
            </a:pPr>
            <a:endParaRPr lang="fr-FR" b="1" i="1" u="sng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14300" indent="0">
              <a:buNone/>
            </a:pPr>
            <a:endParaRPr lang="fr-FR" b="1" i="1" u="sng" dirty="0" smtClean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14300" indent="0">
              <a:buNone/>
            </a:pPr>
            <a:endParaRPr lang="fr-FR" b="1" i="1" u="sng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14300" indent="0">
              <a:buNone/>
            </a:pPr>
            <a:endParaRPr lang="fr-FR" b="1" i="1" u="sng" dirty="0" smtClean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14300" indent="0">
              <a:buNone/>
            </a:pPr>
            <a:endParaRPr lang="fr-FR" b="1" i="1" u="sng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14300" indent="0">
              <a:buNone/>
            </a:pPr>
            <a:endParaRPr lang="fr-FR" b="1" i="1" u="sng" dirty="0" smtClean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14300" indent="0">
              <a:buNone/>
            </a:pPr>
            <a:endParaRPr lang="fr-FR" b="1" i="1" u="sng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14300" indent="0">
              <a:buNone/>
            </a:pPr>
            <a:r>
              <a:rPr lang="fr-FR" dirty="0"/>
              <a:t>Après </a:t>
            </a:r>
            <a:r>
              <a:rPr lang="fr-FR" dirty="0" smtClean="0"/>
              <a:t>en </a:t>
            </a:r>
            <a:r>
              <a:rPr lang="fr-FR" dirty="0"/>
              <a:t>clique  sur : </a:t>
            </a:r>
            <a:r>
              <a:rPr lang="fr-FR" b="1" i="1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Save et ok </a:t>
            </a:r>
          </a:p>
          <a:p>
            <a:pPr marL="114300" indent="0">
              <a:buNone/>
            </a:pPr>
            <a:endParaRPr lang="fr-FR" b="1" i="1" u="sng" dirty="0" smtClean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908720"/>
            <a:ext cx="3966080" cy="31032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4327525"/>
            <a:ext cx="3505200" cy="253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559902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1124744"/>
            <a:ext cx="4752528" cy="3744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1" y="116632"/>
            <a:ext cx="4998467" cy="7406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0" y="4653136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114300" indent="0">
              <a:buNone/>
            </a:pPr>
            <a:r>
              <a:rPr lang="fr-FR" dirty="0" smtClean="0">
                <a:solidFill>
                  <a:schemeClr val="tx2"/>
                </a:solidFill>
              </a:rPr>
              <a:t>Pour </a:t>
            </a:r>
            <a:r>
              <a:rPr lang="fr-FR" dirty="0" err="1" smtClean="0">
                <a:solidFill>
                  <a:schemeClr val="tx2"/>
                </a:solidFill>
              </a:rPr>
              <a:t>vérifer</a:t>
            </a:r>
            <a:r>
              <a:rPr lang="fr-FR" dirty="0" smtClean="0">
                <a:solidFill>
                  <a:schemeClr val="tx2"/>
                </a:solidFill>
              </a:rPr>
              <a:t>  le </a:t>
            </a:r>
            <a:r>
              <a:rPr lang="fr-FR" dirty="0" err="1" smtClean="0">
                <a:solidFill>
                  <a:schemeClr val="tx2"/>
                </a:solidFill>
              </a:rPr>
              <a:t>télechargement</a:t>
            </a:r>
            <a:r>
              <a:rPr lang="fr-FR" dirty="0" smtClean="0">
                <a:solidFill>
                  <a:schemeClr val="tx2"/>
                </a:solidFill>
              </a:rPr>
              <a:t> : </a:t>
            </a:r>
          </a:p>
          <a:p>
            <a:pPr marL="114300" indent="0">
              <a:buNone/>
            </a:pPr>
            <a:r>
              <a:rPr lang="fr-FR" b="1" i="1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 a appliqué </a:t>
            </a:r>
            <a:r>
              <a:rPr lang="fr-FR" b="1" i="1" u="sng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ces deux commandes : </a:t>
            </a:r>
            <a:endParaRPr lang="fr-FR" dirty="0"/>
          </a:p>
        </p:txBody>
      </p:sp>
      <p:sp>
        <p:nvSpPr>
          <p:cNvPr id="5" name="Rectangle 4"/>
          <p:cNvSpPr/>
          <p:nvPr/>
        </p:nvSpPr>
        <p:spPr>
          <a:xfrm>
            <a:off x="1109823" y="5373216"/>
            <a:ext cx="167295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4300" indent="0">
              <a:buNone/>
            </a:pPr>
            <a:r>
              <a:rPr lang="fr-FR" dirty="0" smtClean="0"/>
              <a:t>cd </a:t>
            </a:r>
            <a:r>
              <a:rPr lang="fr-FR" dirty="0" err="1" smtClean="0"/>
              <a:t>Downloads</a:t>
            </a:r>
            <a:r>
              <a:rPr lang="fr-FR" dirty="0" smtClean="0"/>
              <a:t> </a:t>
            </a:r>
          </a:p>
          <a:p>
            <a:pPr marL="114300" indent="0">
              <a:buNone/>
            </a:pPr>
            <a:r>
              <a:rPr lang="fr-FR" dirty="0"/>
              <a:t>l</a:t>
            </a:r>
            <a:r>
              <a:rPr lang="fr-FR" dirty="0" smtClean="0"/>
              <a:t>s </a:t>
            </a:r>
            <a:endParaRPr lang="fr-FR" dirty="0"/>
          </a:p>
        </p:txBody>
      </p:sp>
      <p:sp>
        <p:nvSpPr>
          <p:cNvPr id="6" name="Ellipse 5"/>
          <p:cNvSpPr/>
          <p:nvPr/>
        </p:nvSpPr>
        <p:spPr>
          <a:xfrm>
            <a:off x="5581" y="6019546"/>
            <a:ext cx="2499233" cy="8384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La version kafka_2.10.-0-8.2.2.tgz</a:t>
            </a:r>
            <a:endParaRPr lang="fr-FR" dirty="0"/>
          </a:p>
        </p:txBody>
      </p:sp>
      <p:cxnSp>
        <p:nvCxnSpPr>
          <p:cNvPr id="8" name="Connecteur en angle 7"/>
          <p:cNvCxnSpPr/>
          <p:nvPr/>
        </p:nvCxnSpPr>
        <p:spPr>
          <a:xfrm rot="10800000" flipV="1">
            <a:off x="2504815" y="6019546"/>
            <a:ext cx="1337259" cy="419225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en arc 10"/>
          <p:cNvCxnSpPr/>
          <p:nvPr/>
        </p:nvCxnSpPr>
        <p:spPr>
          <a:xfrm>
            <a:off x="611560" y="5299467"/>
            <a:ext cx="643637" cy="258276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en arc 15"/>
          <p:cNvCxnSpPr/>
          <p:nvPr/>
        </p:nvCxnSpPr>
        <p:spPr>
          <a:xfrm>
            <a:off x="611560" y="5557743"/>
            <a:ext cx="643637" cy="247521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5299467"/>
            <a:ext cx="4248472" cy="1404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687874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13769"/>
            <a:ext cx="5703639" cy="687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456945" y="1019341"/>
            <a:ext cx="29428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/>
              <a:t>tar -</a:t>
            </a:r>
            <a:r>
              <a:rPr lang="fr-FR" dirty="0" err="1"/>
              <a:t>xzf</a:t>
            </a:r>
            <a:r>
              <a:rPr lang="fr-FR" dirty="0"/>
              <a:t> kafka_2.10-0.8.2.2.tgz</a:t>
            </a:r>
          </a:p>
        </p:txBody>
      </p:sp>
      <p:sp>
        <p:nvSpPr>
          <p:cNvPr id="5" name="Ellipse 4"/>
          <p:cNvSpPr/>
          <p:nvPr/>
        </p:nvSpPr>
        <p:spPr>
          <a:xfrm>
            <a:off x="4211960" y="2611037"/>
            <a:ext cx="4248472" cy="158806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Cette commande </a:t>
            </a:r>
            <a:r>
              <a:rPr lang="fr-FR" dirty="0"/>
              <a:t>est utilisée pour </a:t>
            </a:r>
            <a:r>
              <a:rPr lang="fr-FR" b="1" dirty="0"/>
              <a:t>décompresser</a:t>
            </a:r>
            <a:r>
              <a:rPr lang="fr-FR" dirty="0"/>
              <a:t> et </a:t>
            </a:r>
            <a:r>
              <a:rPr lang="fr-FR" b="1" dirty="0"/>
              <a:t>extraire</a:t>
            </a:r>
            <a:r>
              <a:rPr lang="fr-FR" dirty="0"/>
              <a:t> le contenu d'un fichier archive</a:t>
            </a:r>
          </a:p>
        </p:txBody>
      </p:sp>
      <p:cxnSp>
        <p:nvCxnSpPr>
          <p:cNvPr id="9" name="Connecteur en angle 8"/>
          <p:cNvCxnSpPr/>
          <p:nvPr/>
        </p:nvCxnSpPr>
        <p:spPr>
          <a:xfrm>
            <a:off x="1115616" y="2212293"/>
            <a:ext cx="3096344" cy="1192778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653136"/>
            <a:ext cx="4147661" cy="576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Ellipse 6"/>
          <p:cNvSpPr/>
          <p:nvPr/>
        </p:nvSpPr>
        <p:spPr>
          <a:xfrm>
            <a:off x="4427984" y="5229200"/>
            <a:ext cx="4032448" cy="14401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Pour vérifier que l'extraction a fonctionné</a:t>
            </a:r>
          </a:p>
        </p:txBody>
      </p:sp>
      <p:cxnSp>
        <p:nvCxnSpPr>
          <p:cNvPr id="13" name="Connecteur en angle 12"/>
          <p:cNvCxnSpPr>
            <a:endCxn id="7" idx="2"/>
          </p:cNvCxnSpPr>
          <p:nvPr/>
        </p:nvCxnSpPr>
        <p:spPr>
          <a:xfrm>
            <a:off x="1318131" y="5229200"/>
            <a:ext cx="3109853" cy="720080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en arc 14"/>
          <p:cNvCxnSpPr>
            <a:endCxn id="4" idx="1"/>
          </p:cNvCxnSpPr>
          <p:nvPr/>
        </p:nvCxnSpPr>
        <p:spPr>
          <a:xfrm rot="16200000" flipH="1">
            <a:off x="-1051" y="746010"/>
            <a:ext cx="790959" cy="125034"/>
          </a:xfrm>
          <a:prstGeom prst="curved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3668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2" y="1695287"/>
            <a:ext cx="5515319" cy="683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Connecteur en arc 4"/>
          <p:cNvCxnSpPr/>
          <p:nvPr/>
        </p:nvCxnSpPr>
        <p:spPr>
          <a:xfrm>
            <a:off x="11658" y="0"/>
            <a:ext cx="743920" cy="476672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11560" y="292006"/>
            <a:ext cx="22993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4300" indent="0">
              <a:buNone/>
            </a:pPr>
            <a:r>
              <a:rPr lang="fr-FR" dirty="0"/>
              <a:t>cd </a:t>
            </a:r>
            <a:r>
              <a:rPr lang="fr-FR" dirty="0" smtClean="0"/>
              <a:t>kafka_2.10-0.8.2.2</a:t>
            </a:r>
            <a:endParaRPr lang="fr-FR" dirty="0"/>
          </a:p>
        </p:txBody>
      </p:sp>
      <p:cxnSp>
        <p:nvCxnSpPr>
          <p:cNvPr id="8" name="Connecteur en arc 7"/>
          <p:cNvCxnSpPr/>
          <p:nvPr/>
        </p:nvCxnSpPr>
        <p:spPr>
          <a:xfrm>
            <a:off x="11658" y="476672"/>
            <a:ext cx="743920" cy="476672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799084" y="785529"/>
            <a:ext cx="3273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smtClean="0"/>
              <a:t>ls</a:t>
            </a:r>
            <a:endParaRPr lang="fr-FR" dirty="0"/>
          </a:p>
        </p:txBody>
      </p:sp>
      <p:sp>
        <p:nvSpPr>
          <p:cNvPr id="11" name="Rectangle 10"/>
          <p:cNvSpPr/>
          <p:nvPr/>
        </p:nvSpPr>
        <p:spPr>
          <a:xfrm>
            <a:off x="1475656" y="2659559"/>
            <a:ext cx="468982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4400" b="1" u="sng" dirty="0" err="1">
                <a:solidFill>
                  <a:schemeClr val="tx2"/>
                </a:solidFill>
              </a:rPr>
              <a:t>start</a:t>
            </a:r>
            <a:r>
              <a:rPr lang="fr-FR" sz="4400" b="1" u="sng" dirty="0">
                <a:solidFill>
                  <a:schemeClr val="tx2"/>
                </a:solidFill>
              </a:rPr>
              <a:t> </a:t>
            </a:r>
            <a:r>
              <a:rPr lang="fr-FR" sz="4400" b="1" u="sng" dirty="0" err="1">
                <a:solidFill>
                  <a:schemeClr val="tx2"/>
                </a:solidFill>
              </a:rPr>
              <a:t>zookeeper</a:t>
            </a:r>
            <a:endParaRPr lang="fr-FR" sz="4400" b="1" u="sng" dirty="0">
              <a:solidFill>
                <a:schemeClr val="tx2"/>
              </a:solidFill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2195736" y="3951481"/>
            <a:ext cx="6348622" cy="27547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 err="1">
                <a:solidFill>
                  <a:srgbClr val="7030A0"/>
                </a:solidFill>
              </a:rPr>
              <a:t>Zookeeper</a:t>
            </a:r>
            <a:r>
              <a:rPr lang="fr-FR" dirty="0">
                <a:solidFill>
                  <a:srgbClr val="7030A0"/>
                </a:solidFill>
              </a:rPr>
              <a:t> </a:t>
            </a:r>
            <a:r>
              <a:rPr lang="fr-FR" dirty="0"/>
              <a:t>est un service de coordination utilisé par Kafka pour gérer les métadonnées, élire des leaders, détecter les pannes et synchroniser les brokers</a:t>
            </a:r>
            <a:r>
              <a:rPr lang="fr-FR" dirty="0" smtClean="0"/>
              <a:t>.</a:t>
            </a:r>
          </a:p>
          <a:p>
            <a:endParaRPr lang="fr-FR" dirty="0"/>
          </a:p>
          <a:p>
            <a:r>
              <a:rPr lang="fr-FR" b="1" dirty="0">
                <a:solidFill>
                  <a:srgbClr val="7030A0"/>
                </a:solidFill>
              </a:rPr>
              <a:t>Kafka</a:t>
            </a:r>
            <a:r>
              <a:rPr lang="fr-FR" dirty="0">
                <a:solidFill>
                  <a:srgbClr val="7030A0"/>
                </a:solidFill>
              </a:rPr>
              <a:t> </a:t>
            </a:r>
            <a:r>
              <a:rPr lang="fr-FR" dirty="0"/>
              <a:t>dépend fortement de </a:t>
            </a:r>
            <a:r>
              <a:rPr lang="fr-FR" dirty="0" err="1"/>
              <a:t>Zookeeper</a:t>
            </a:r>
            <a:r>
              <a:rPr lang="fr-FR" dirty="0"/>
              <a:t> dans les versions antérieures à 2.8.</a:t>
            </a:r>
          </a:p>
        </p:txBody>
      </p:sp>
      <p:cxnSp>
        <p:nvCxnSpPr>
          <p:cNvPr id="14" name="Connecteur en angle 13"/>
          <p:cNvCxnSpPr>
            <a:endCxn id="12" idx="1"/>
          </p:cNvCxnSpPr>
          <p:nvPr/>
        </p:nvCxnSpPr>
        <p:spPr>
          <a:xfrm rot="16200000" flipH="1">
            <a:off x="2324089" y="3553521"/>
            <a:ext cx="817044" cy="785717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79763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cteur en arc 4"/>
          <p:cNvCxnSpPr/>
          <p:nvPr/>
        </p:nvCxnSpPr>
        <p:spPr>
          <a:xfrm>
            <a:off x="179512" y="332656"/>
            <a:ext cx="1008112" cy="576064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198784" y="724054"/>
            <a:ext cx="72702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/>
              <a:t>bin/zookeeper-server-start.sh config/</a:t>
            </a:r>
            <a:r>
              <a:rPr lang="fr-FR" dirty="0" err="1"/>
              <a:t>zookeeper.properties</a:t>
            </a:r>
            <a:endParaRPr lang="fr-FR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42" y="1412776"/>
            <a:ext cx="8186070" cy="16542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1910950" y="0"/>
            <a:ext cx="49465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u="sng" dirty="0" smtClean="0"/>
              <a:t>Avant d’appliquer cette commande</a:t>
            </a:r>
            <a:r>
              <a:rPr lang="fr-FR" b="1" i="1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b="1" u="sng" dirty="0" smtClean="0"/>
              <a:t>on </a:t>
            </a:r>
            <a:r>
              <a:rPr lang="fr-FR" b="1" u="sng" dirty="0"/>
              <a:t>a </a:t>
            </a:r>
            <a:r>
              <a:rPr lang="fr-FR" b="1" u="sng" dirty="0" smtClean="0"/>
              <a:t>executé :</a:t>
            </a:r>
            <a:endParaRPr lang="fr-FR" b="1" u="sng" dirty="0"/>
          </a:p>
        </p:txBody>
      </p:sp>
      <p:sp>
        <p:nvSpPr>
          <p:cNvPr id="3" name="Rectangle 2"/>
          <p:cNvSpPr/>
          <p:nvPr/>
        </p:nvSpPr>
        <p:spPr>
          <a:xfrm>
            <a:off x="348782" y="3664856"/>
            <a:ext cx="7312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smtClean="0"/>
              <a:t>cd ..   </a:t>
            </a:r>
            <a:endParaRPr lang="fr-FR" dirty="0"/>
          </a:p>
        </p:txBody>
      </p:sp>
      <p:sp>
        <p:nvSpPr>
          <p:cNvPr id="4" name="Rectangle 3"/>
          <p:cNvSpPr/>
          <p:nvPr/>
        </p:nvSpPr>
        <p:spPr>
          <a:xfrm>
            <a:off x="1519244" y="4223320"/>
            <a:ext cx="66293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smtClean="0"/>
              <a:t>Pour sortir de l kafka_2.10-0.8.2.2  </a:t>
            </a:r>
            <a:r>
              <a:rPr lang="fr-FR" dirty="0" smtClean="0">
                <a:solidFill>
                  <a:schemeClr val="accent5">
                    <a:lumMod val="50000"/>
                  </a:schemeClr>
                </a:solidFill>
              </a:rPr>
              <a:t>et</a:t>
            </a:r>
            <a:r>
              <a:rPr lang="fr-FR" dirty="0" smtClean="0"/>
              <a:t> etre dans le dossier </a:t>
            </a:r>
            <a:r>
              <a:rPr lang="fr-FR" dirty="0" err="1" smtClean="0"/>
              <a:t>Downloads</a:t>
            </a:r>
            <a:endParaRPr lang="fr-FR" dirty="0"/>
          </a:p>
        </p:txBody>
      </p:sp>
      <p:cxnSp>
        <p:nvCxnSpPr>
          <p:cNvPr id="8" name="Connecteur en arc 7"/>
          <p:cNvCxnSpPr>
            <a:stCxn id="3" idx="2"/>
          </p:cNvCxnSpPr>
          <p:nvPr/>
        </p:nvCxnSpPr>
        <p:spPr>
          <a:xfrm rot="16200000" flipH="1">
            <a:off x="955197" y="3793417"/>
            <a:ext cx="373798" cy="855339"/>
          </a:xfrm>
          <a:prstGeom prst="curved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en arc 10"/>
          <p:cNvCxnSpPr/>
          <p:nvPr/>
        </p:nvCxnSpPr>
        <p:spPr>
          <a:xfrm rot="16200000" flipH="1">
            <a:off x="-87891" y="3357339"/>
            <a:ext cx="580074" cy="404292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en arc 12"/>
          <p:cNvCxnSpPr/>
          <p:nvPr/>
        </p:nvCxnSpPr>
        <p:spPr>
          <a:xfrm>
            <a:off x="-99764" y="4656335"/>
            <a:ext cx="1008112" cy="576064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719479" y="5580851"/>
            <a:ext cx="274954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/>
              <a:t>Pour </a:t>
            </a:r>
            <a:r>
              <a:rPr lang="fr-FR" dirty="0" smtClean="0"/>
              <a:t>changer l’emplacement en home </a:t>
            </a:r>
            <a:endParaRPr lang="fr-FR" dirty="0"/>
          </a:p>
        </p:txBody>
      </p:sp>
      <p:sp>
        <p:nvSpPr>
          <p:cNvPr id="12" name="Rectangle 11"/>
          <p:cNvSpPr/>
          <p:nvPr/>
        </p:nvSpPr>
        <p:spPr>
          <a:xfrm>
            <a:off x="908348" y="5047733"/>
            <a:ext cx="42347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/>
              <a:t>c</a:t>
            </a:r>
            <a:r>
              <a:rPr lang="fr-FR" dirty="0" smtClean="0"/>
              <a:t>p kafka_2.10-0.8.2.2.tgz  /home /</a:t>
            </a:r>
            <a:r>
              <a:rPr lang="fr-FR" dirty="0" err="1" smtClean="0"/>
              <a:t>cloudera</a:t>
            </a:r>
            <a:endParaRPr lang="fr-FR" dirty="0"/>
          </a:p>
        </p:txBody>
      </p:sp>
      <p:cxnSp>
        <p:nvCxnSpPr>
          <p:cNvPr id="16" name="Connecteur en arc 15"/>
          <p:cNvCxnSpPr/>
          <p:nvPr/>
        </p:nvCxnSpPr>
        <p:spPr>
          <a:xfrm rot="16200000" flipH="1">
            <a:off x="5074673" y="5176295"/>
            <a:ext cx="373798" cy="855339"/>
          </a:xfrm>
          <a:prstGeom prst="curved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en arc 16"/>
          <p:cNvCxnSpPr/>
          <p:nvPr/>
        </p:nvCxnSpPr>
        <p:spPr>
          <a:xfrm>
            <a:off x="0" y="5790864"/>
            <a:ext cx="1008112" cy="576064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035117" y="6228348"/>
            <a:ext cx="3273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smtClean="0"/>
              <a:t>ls</a:t>
            </a:r>
            <a:endParaRPr lang="fr-FR" dirty="0"/>
          </a:p>
        </p:txBody>
      </p:sp>
      <p:cxnSp>
        <p:nvCxnSpPr>
          <p:cNvPr id="20" name="Connecteur en arc 19"/>
          <p:cNvCxnSpPr/>
          <p:nvPr/>
        </p:nvCxnSpPr>
        <p:spPr>
          <a:xfrm>
            <a:off x="1290216" y="6484202"/>
            <a:ext cx="855342" cy="257168"/>
          </a:xfrm>
          <a:prstGeom prst="curved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214237" y="6488668"/>
            <a:ext cx="21834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/>
              <a:t>Pour </a:t>
            </a:r>
            <a:r>
              <a:rPr lang="fr-FR" dirty="0" smtClean="0"/>
              <a:t>lister le contenu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955091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690" y="-22563"/>
            <a:ext cx="8100392" cy="38266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4005064"/>
            <a:ext cx="500404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/>
              <a:t>Le but de ces commandes sont : </a:t>
            </a:r>
          </a:p>
          <a:p>
            <a:pPr marL="285750" indent="-285750">
              <a:buFont typeface="Arial" charset="0"/>
              <a:buChar char="•"/>
            </a:pPr>
            <a:r>
              <a:rPr lang="fr-FR" dirty="0" smtClean="0"/>
              <a:t>Lancé </a:t>
            </a:r>
            <a:r>
              <a:rPr lang="fr-FR" dirty="0" err="1" smtClean="0"/>
              <a:t>cloudera</a:t>
            </a:r>
            <a:r>
              <a:rPr lang="fr-FR" dirty="0" smtClean="0"/>
              <a:t> manager </a:t>
            </a:r>
          </a:p>
          <a:p>
            <a:pPr marL="285750" indent="-285750">
              <a:buFont typeface="Arial" charset="0"/>
              <a:buChar char="•"/>
            </a:pPr>
            <a:r>
              <a:rPr lang="fr-FR" dirty="0" smtClean="0"/>
              <a:t> fermé </a:t>
            </a:r>
            <a:r>
              <a:rPr lang="fr-FR" dirty="0" err="1" smtClean="0"/>
              <a:t>Zookeeper</a:t>
            </a:r>
            <a:r>
              <a:rPr lang="fr-FR" dirty="0" smtClean="0"/>
              <a:t> </a:t>
            </a:r>
            <a:endParaRPr lang="fr-FR" dirty="0"/>
          </a:p>
        </p:txBody>
      </p:sp>
      <p:sp>
        <p:nvSpPr>
          <p:cNvPr id="6" name="Rectangle 5"/>
          <p:cNvSpPr/>
          <p:nvPr/>
        </p:nvSpPr>
        <p:spPr>
          <a:xfrm>
            <a:off x="1051972" y="5602756"/>
            <a:ext cx="9573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err="1" smtClean="0"/>
              <a:t>sudo</a:t>
            </a:r>
            <a:r>
              <a:rPr lang="fr-FR" dirty="0" smtClean="0"/>
              <a:t> </a:t>
            </a:r>
            <a:r>
              <a:rPr lang="fr-FR" dirty="0"/>
              <a:t>su </a:t>
            </a:r>
          </a:p>
        </p:txBody>
      </p:sp>
      <p:cxnSp>
        <p:nvCxnSpPr>
          <p:cNvPr id="10" name="Connecteur en arc 9"/>
          <p:cNvCxnSpPr/>
          <p:nvPr/>
        </p:nvCxnSpPr>
        <p:spPr>
          <a:xfrm>
            <a:off x="5292080" y="5230441"/>
            <a:ext cx="1008112" cy="576064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en arc 10"/>
          <p:cNvCxnSpPr/>
          <p:nvPr/>
        </p:nvCxnSpPr>
        <p:spPr>
          <a:xfrm>
            <a:off x="40791" y="5211358"/>
            <a:ext cx="1008112" cy="576064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en arc 11"/>
          <p:cNvCxnSpPr/>
          <p:nvPr/>
        </p:nvCxnSpPr>
        <p:spPr>
          <a:xfrm>
            <a:off x="0" y="6075454"/>
            <a:ext cx="1008112" cy="576064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057198" y="6486101"/>
            <a:ext cx="41762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err="1"/>
              <a:t>s</a:t>
            </a:r>
            <a:r>
              <a:rPr lang="fr-FR" dirty="0" err="1" smtClean="0"/>
              <a:t>udo</a:t>
            </a:r>
            <a:r>
              <a:rPr lang="fr-FR" dirty="0" smtClean="0"/>
              <a:t> service </a:t>
            </a:r>
            <a:r>
              <a:rPr lang="fr-FR" dirty="0" err="1" smtClean="0"/>
              <a:t>hadoop-hdfs-namenode</a:t>
            </a:r>
            <a:r>
              <a:rPr lang="fr-FR" dirty="0" smtClean="0"/>
              <a:t> </a:t>
            </a:r>
            <a:r>
              <a:rPr lang="fr-FR" dirty="0" err="1" smtClean="0"/>
              <a:t>start</a:t>
            </a:r>
            <a:endParaRPr lang="fr-FR" dirty="0"/>
          </a:p>
        </p:txBody>
      </p:sp>
      <p:sp>
        <p:nvSpPr>
          <p:cNvPr id="8" name="Rectangle 7"/>
          <p:cNvSpPr/>
          <p:nvPr/>
        </p:nvSpPr>
        <p:spPr>
          <a:xfrm>
            <a:off x="6300192" y="5602756"/>
            <a:ext cx="208823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err="1" smtClean="0"/>
              <a:t>sudo</a:t>
            </a:r>
            <a:r>
              <a:rPr lang="fr-FR" dirty="0" smtClean="0"/>
              <a:t> /home/</a:t>
            </a:r>
            <a:r>
              <a:rPr lang="fr-FR" dirty="0" err="1" smtClean="0"/>
              <a:t>cloudera</a:t>
            </a:r>
            <a:r>
              <a:rPr lang="fr-FR" dirty="0" smtClean="0"/>
              <a:t>/</a:t>
            </a:r>
            <a:r>
              <a:rPr lang="fr-FR" dirty="0" err="1" smtClean="0"/>
              <a:t>cloudera</a:t>
            </a:r>
            <a:r>
              <a:rPr lang="fr-FR" dirty="0" smtClean="0"/>
              <a:t>-manager –express  -force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65556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90" y="1340768"/>
            <a:ext cx="8438541" cy="5517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179512" y="260648"/>
            <a:ext cx="396044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/>
              <a:t>On a entré avec :</a:t>
            </a:r>
          </a:p>
          <a:p>
            <a:r>
              <a:rPr lang="fr-FR" dirty="0"/>
              <a:t> </a:t>
            </a:r>
            <a:r>
              <a:rPr lang="fr-FR" dirty="0" smtClean="0"/>
              <a:t>    * </a:t>
            </a:r>
            <a:r>
              <a:rPr lang="fr-FR" b="1" i="1" u="sng" dirty="0" err="1" smtClean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usernme</a:t>
            </a:r>
            <a:r>
              <a:rPr lang="fr-FR" dirty="0" smtClean="0"/>
              <a:t> </a:t>
            </a:r>
            <a:r>
              <a:rPr lang="fr-FR" dirty="0" err="1" smtClean="0"/>
              <a:t>cloudera</a:t>
            </a:r>
            <a:endParaRPr lang="fr-FR" dirty="0" smtClean="0"/>
          </a:p>
          <a:p>
            <a:r>
              <a:rPr lang="fr-FR" dirty="0"/>
              <a:t> </a:t>
            </a:r>
            <a:r>
              <a:rPr lang="fr-FR" dirty="0" smtClean="0"/>
              <a:t>    *</a:t>
            </a:r>
            <a:r>
              <a:rPr lang="fr-FR" b="1" i="1" u="sng" dirty="0" err="1" smtClean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password</a:t>
            </a:r>
            <a:r>
              <a:rPr lang="fr-FR" dirty="0" smtClean="0"/>
              <a:t> </a:t>
            </a:r>
            <a:r>
              <a:rPr lang="fr-FR" dirty="0" err="1" smtClean="0"/>
              <a:t>cloudera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080619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cteur en arc 4"/>
          <p:cNvCxnSpPr/>
          <p:nvPr/>
        </p:nvCxnSpPr>
        <p:spPr>
          <a:xfrm>
            <a:off x="21254" y="1484784"/>
            <a:ext cx="1008112" cy="576064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29366" y="1876182"/>
            <a:ext cx="9573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err="1"/>
              <a:t>sudo</a:t>
            </a:r>
            <a:r>
              <a:rPr lang="fr-FR" dirty="0"/>
              <a:t> su </a:t>
            </a:r>
          </a:p>
        </p:txBody>
      </p:sp>
      <p:cxnSp>
        <p:nvCxnSpPr>
          <p:cNvPr id="7" name="Connecteur en arc 6"/>
          <p:cNvCxnSpPr/>
          <p:nvPr/>
        </p:nvCxnSpPr>
        <p:spPr>
          <a:xfrm>
            <a:off x="9256" y="2420888"/>
            <a:ext cx="1008112" cy="576064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979876" y="2529770"/>
            <a:ext cx="58326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dirty="0"/>
          </a:p>
          <a:p>
            <a:r>
              <a:rPr lang="fr-FR" dirty="0"/>
              <a:t>bin/kafka-server-start.sh config/</a:t>
            </a:r>
            <a:r>
              <a:rPr lang="fr-FR" dirty="0" err="1"/>
              <a:t>server.properties</a:t>
            </a:r>
            <a:endParaRPr lang="fr-FR" dirty="0"/>
          </a:p>
        </p:txBody>
      </p:sp>
      <p:sp>
        <p:nvSpPr>
          <p:cNvPr id="11" name="Rectangle 10"/>
          <p:cNvSpPr/>
          <p:nvPr/>
        </p:nvSpPr>
        <p:spPr>
          <a:xfrm>
            <a:off x="-26341" y="0"/>
            <a:ext cx="3740383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i="1" u="sng" dirty="0" smtClean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Lancer </a:t>
            </a:r>
            <a:r>
              <a:rPr lang="fr-FR" b="1" i="1" u="sng" dirty="0" err="1" smtClean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kafka</a:t>
            </a:r>
            <a:r>
              <a:rPr lang="fr-FR" b="1" i="1" u="sng" dirty="0" smtClean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r>
              <a:rPr lang="fr-FR" b="1" i="1" u="sng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fr-FR" b="1" i="1" u="sng" dirty="0" smtClean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fr-FR" dirty="0" smtClean="0"/>
              <a:t>           * On a ouvert un autre terminal</a:t>
            </a:r>
            <a:endParaRPr lang="fr-FR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573016"/>
            <a:ext cx="4906962" cy="2157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350262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46871" y="0"/>
            <a:ext cx="49793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smtClean="0"/>
              <a:t>Crée un topic </a:t>
            </a:r>
            <a:r>
              <a:rPr lang="fr-FR" dirty="0" err="1" smtClean="0"/>
              <a:t>applé</a:t>
            </a:r>
            <a:r>
              <a:rPr lang="fr-FR" dirty="0" smtClean="0"/>
              <a:t> : </a:t>
            </a:r>
            <a:r>
              <a:rPr lang="fr-FR" dirty="0" err="1" smtClean="0"/>
              <a:t>my</a:t>
            </a:r>
            <a:r>
              <a:rPr lang="fr-FR" dirty="0" smtClean="0"/>
              <a:t>-topic </a:t>
            </a:r>
            <a:r>
              <a:rPr lang="fr-FR" dirty="0" smtClean="0">
                <a:solidFill>
                  <a:schemeClr val="accent5">
                    <a:lumMod val="75000"/>
                  </a:schemeClr>
                </a:solidFill>
              </a:rPr>
              <a:t>+</a:t>
            </a:r>
            <a:r>
              <a:rPr lang="fr-FR" dirty="0" smtClean="0"/>
              <a:t> ouvrir un terminal </a:t>
            </a:r>
            <a:endParaRPr lang="fr-FR" dirty="0"/>
          </a:p>
        </p:txBody>
      </p:sp>
      <p:cxnSp>
        <p:nvCxnSpPr>
          <p:cNvPr id="6" name="Connecteur en arc 5"/>
          <p:cNvCxnSpPr/>
          <p:nvPr/>
        </p:nvCxnSpPr>
        <p:spPr>
          <a:xfrm>
            <a:off x="40791" y="548680"/>
            <a:ext cx="1008112" cy="576064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1106009" y="836712"/>
            <a:ext cx="666958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bin/kafka-topics.sh </a:t>
            </a:r>
            <a:r>
              <a:rPr lang="en-US" dirty="0"/>
              <a:t>--create --zookeeper localhost: 2181 --replication-factor 1 --partitions 1 --topic my-topic</a:t>
            </a:r>
          </a:p>
          <a:p>
            <a:endParaRPr lang="en-US" dirty="0"/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5803" y="4581128"/>
            <a:ext cx="8460432" cy="7469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/>
        </p:nvSpPr>
        <p:spPr>
          <a:xfrm>
            <a:off x="30174" y="3059668"/>
            <a:ext cx="14276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smtClean="0"/>
              <a:t>lister topics : </a:t>
            </a:r>
            <a:endParaRPr lang="fr-FR" dirty="0"/>
          </a:p>
        </p:txBody>
      </p:sp>
      <p:cxnSp>
        <p:nvCxnSpPr>
          <p:cNvPr id="11" name="Connecteur en arc 10"/>
          <p:cNvCxnSpPr/>
          <p:nvPr/>
        </p:nvCxnSpPr>
        <p:spPr>
          <a:xfrm>
            <a:off x="20571" y="3632417"/>
            <a:ext cx="1008112" cy="576064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028683" y="4009184"/>
            <a:ext cx="67266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/>
              <a:t>bin/kafka-topics.sh --</a:t>
            </a:r>
            <a:r>
              <a:rPr lang="fr-FR" dirty="0" err="1"/>
              <a:t>list</a:t>
            </a:r>
            <a:r>
              <a:rPr lang="fr-FR" dirty="0"/>
              <a:t> --</a:t>
            </a:r>
            <a:r>
              <a:rPr lang="fr-FR" dirty="0" err="1"/>
              <a:t>zookeeper</a:t>
            </a:r>
            <a:r>
              <a:rPr lang="fr-FR" dirty="0"/>
              <a:t> localhost:2181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611868"/>
            <a:ext cx="5006975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510802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1380"/>
            <a:ext cx="16902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i="1" u="sng" dirty="0" smtClean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lancer </a:t>
            </a:r>
            <a:r>
              <a:rPr lang="fr-FR" b="1" i="1" u="sng" dirty="0" err="1" smtClean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producer</a:t>
            </a:r>
            <a:endParaRPr lang="fr-FR" b="1" i="1" u="sng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" name="Connecteur en arc 5"/>
          <p:cNvCxnSpPr/>
          <p:nvPr/>
        </p:nvCxnSpPr>
        <p:spPr>
          <a:xfrm>
            <a:off x="0" y="476672"/>
            <a:ext cx="1008112" cy="576064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997924" y="868070"/>
            <a:ext cx="904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err="1"/>
              <a:t>s</a:t>
            </a:r>
            <a:r>
              <a:rPr lang="fr-FR" dirty="0" err="1" smtClean="0"/>
              <a:t>udo</a:t>
            </a:r>
            <a:r>
              <a:rPr lang="fr-FR" dirty="0" smtClean="0"/>
              <a:t> su</a:t>
            </a:r>
            <a:endParaRPr lang="fr-FR" dirty="0"/>
          </a:p>
        </p:txBody>
      </p:sp>
      <p:cxnSp>
        <p:nvCxnSpPr>
          <p:cNvPr id="8" name="Connecteur en arc 7"/>
          <p:cNvCxnSpPr/>
          <p:nvPr/>
        </p:nvCxnSpPr>
        <p:spPr>
          <a:xfrm>
            <a:off x="-10188" y="1556792"/>
            <a:ext cx="1008112" cy="576064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008112" y="1916832"/>
            <a:ext cx="723629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bin/kafka-console-producer.sh --broker-list localhost:9092 --topic my-topic</a:t>
            </a:r>
          </a:p>
          <a:p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3663950"/>
            <a:ext cx="5211763" cy="1782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091352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7656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i="1" u="sng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lancer </a:t>
            </a:r>
            <a:r>
              <a:rPr lang="fr-FR" b="1" i="1" u="sng" dirty="0" smtClean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consumer</a:t>
            </a:r>
            <a:endParaRPr lang="fr-FR" b="1" i="1" u="sng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5" name="Connecteur en arc 4"/>
          <p:cNvCxnSpPr/>
          <p:nvPr/>
        </p:nvCxnSpPr>
        <p:spPr>
          <a:xfrm>
            <a:off x="0" y="476672"/>
            <a:ext cx="1008112" cy="576064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387" y="1484784"/>
            <a:ext cx="5583390" cy="360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1021531" y="868070"/>
            <a:ext cx="904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err="1"/>
              <a:t>s</a:t>
            </a:r>
            <a:r>
              <a:rPr lang="fr-FR" dirty="0" err="1" smtClean="0"/>
              <a:t>udo</a:t>
            </a:r>
            <a:r>
              <a:rPr lang="fr-FR" dirty="0" smtClean="0"/>
              <a:t> su</a:t>
            </a:r>
            <a:endParaRPr lang="fr-FR" dirty="0"/>
          </a:p>
        </p:txBody>
      </p:sp>
      <p:cxnSp>
        <p:nvCxnSpPr>
          <p:cNvPr id="8" name="Connecteur en arc 7"/>
          <p:cNvCxnSpPr/>
          <p:nvPr/>
        </p:nvCxnSpPr>
        <p:spPr>
          <a:xfrm>
            <a:off x="-16387" y="2564904"/>
            <a:ext cx="1008112" cy="576064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008112" y="2852936"/>
            <a:ext cx="74523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bin/kafka-console-consumer.sh --zookeeper localhost:2181 -topic my-topic --from-beginning</a:t>
            </a:r>
            <a:endParaRPr lang="fr-FR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196689"/>
            <a:ext cx="4922837" cy="2027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171168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0688"/>
            <a:ext cx="8450259" cy="6237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-180528" y="9346"/>
            <a:ext cx="7620000" cy="4800600"/>
          </a:xfrm>
        </p:spPr>
        <p:txBody>
          <a:bodyPr/>
          <a:lstStyle/>
          <a:p>
            <a:pPr marL="114300" indent="0">
              <a:buNone/>
            </a:pPr>
            <a:r>
              <a:rPr lang="fr-FR" b="1" i="1" u="sng" dirty="0" smtClean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TEST 1 : </a:t>
            </a:r>
            <a:endParaRPr lang="fr-FR" b="1" i="1" u="sng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526318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758" y="620688"/>
            <a:ext cx="8477190" cy="6237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-16727" y="-1509"/>
            <a:ext cx="10295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4300" indent="0">
              <a:buNone/>
            </a:pPr>
            <a:r>
              <a:rPr lang="fr-FR" b="1" i="1" u="sng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TEST </a:t>
            </a:r>
            <a:r>
              <a:rPr lang="fr-FR" b="1" i="1" u="sng" dirty="0" smtClean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 :</a:t>
            </a:r>
            <a:endParaRPr lang="fr-FR" b="1" i="1" u="sng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568796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95536" y="2636912"/>
            <a:ext cx="7620000" cy="1143000"/>
          </a:xfrm>
        </p:spPr>
        <p:txBody>
          <a:bodyPr/>
          <a:lstStyle/>
          <a:p>
            <a:r>
              <a:rPr lang="fr-FR" dirty="0" smtClean="0"/>
              <a:t>CONFIGURATION DU  </a:t>
            </a:r>
            <a:r>
              <a:rPr lang="fr-FR" dirty="0" smtClean="0">
                <a:solidFill>
                  <a:srgbClr val="FF0000"/>
                </a:solidFill>
              </a:rPr>
              <a:t>SQOOP</a:t>
            </a:r>
            <a:endParaRPr lang="fr-F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51540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</a:t>
            </a:r>
            <a:r>
              <a:rPr lang="fr-FR" dirty="0" smtClean="0"/>
              <a:t> éme vérification : S’</a:t>
            </a:r>
            <a:r>
              <a:rPr lang="fr-FR" dirty="0"/>
              <a:t> </a:t>
            </a:r>
            <a:r>
              <a:rPr lang="fr-FR" dirty="0" smtClean="0"/>
              <a:t>il existe </a:t>
            </a:r>
            <a:r>
              <a:rPr lang="fr-FR" b="1" i="1" u="sng" dirty="0" smtClean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SQOOP</a:t>
            </a:r>
            <a:endParaRPr lang="fr-FR" b="1" i="1" u="sng" dirty="0">
              <a:solidFill>
                <a:schemeClr val="bg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36912"/>
            <a:ext cx="5832648" cy="244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Connecteur en angle 4"/>
          <p:cNvCxnSpPr/>
          <p:nvPr/>
        </p:nvCxnSpPr>
        <p:spPr>
          <a:xfrm>
            <a:off x="1907704" y="5128698"/>
            <a:ext cx="3312368" cy="1094605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254589" y="1988840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dirty="0" smtClean="0"/>
              <a:t>          </a:t>
            </a:r>
            <a:r>
              <a:rPr lang="fr-FR" dirty="0" err="1"/>
              <a:t>s</a:t>
            </a:r>
            <a:r>
              <a:rPr lang="fr-FR" dirty="0" err="1" smtClean="0"/>
              <a:t>qoop</a:t>
            </a:r>
            <a:r>
              <a:rPr lang="fr-FR" dirty="0" smtClean="0"/>
              <a:t> version</a:t>
            </a:r>
            <a:endParaRPr lang="fr-FR" dirty="0"/>
          </a:p>
        </p:txBody>
      </p:sp>
      <p:sp>
        <p:nvSpPr>
          <p:cNvPr id="7" name="Ellipse 6"/>
          <p:cNvSpPr/>
          <p:nvPr/>
        </p:nvSpPr>
        <p:spPr>
          <a:xfrm>
            <a:off x="5220072" y="5877271"/>
            <a:ext cx="2952328" cy="6920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u="sng" dirty="0"/>
              <a:t>la version 1.4.6-cdh5.12.0</a:t>
            </a:r>
          </a:p>
        </p:txBody>
      </p:sp>
      <p:cxnSp>
        <p:nvCxnSpPr>
          <p:cNvPr id="11" name="Connecteur en arc 10"/>
          <p:cNvCxnSpPr/>
          <p:nvPr/>
        </p:nvCxnSpPr>
        <p:spPr>
          <a:xfrm>
            <a:off x="219333" y="1915230"/>
            <a:ext cx="643637" cy="258276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68855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71600" y="116632"/>
            <a:ext cx="633670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/>
              <a:t>Oui, </a:t>
            </a:r>
            <a:r>
              <a:rPr lang="fr-FR" b="1" dirty="0"/>
              <a:t>il faut absolument</a:t>
            </a:r>
            <a:r>
              <a:rPr lang="fr-FR" dirty="0"/>
              <a:t> s'assurer que </a:t>
            </a:r>
            <a:r>
              <a:rPr lang="fr-FR" b="1" dirty="0"/>
              <a:t>HDFS et les services </a:t>
            </a:r>
            <a:r>
              <a:rPr lang="fr-FR" b="1" dirty="0" err="1"/>
              <a:t>Hadoop</a:t>
            </a:r>
            <a:r>
              <a:rPr lang="fr-FR" b="1" dirty="0"/>
              <a:t> sont en cours d'exécution</a:t>
            </a:r>
            <a:r>
              <a:rPr lang="fr-FR" dirty="0"/>
              <a:t> avant d'exécuter </a:t>
            </a:r>
            <a:r>
              <a:rPr lang="fr-FR" b="1" dirty="0" err="1"/>
              <a:t>Sqoop</a:t>
            </a:r>
            <a:r>
              <a:rPr lang="fr-FR" dirty="0"/>
              <a:t>.</a:t>
            </a:r>
          </a:p>
          <a:p>
            <a:r>
              <a:rPr lang="fr-FR" b="1" dirty="0"/>
              <a:t>Pourquoi ?</a:t>
            </a:r>
          </a:p>
          <a:p>
            <a:r>
              <a:rPr lang="fr-FR" dirty="0" err="1"/>
              <a:t>Sqoop</a:t>
            </a:r>
            <a:r>
              <a:rPr lang="fr-FR" dirty="0"/>
              <a:t> fonctionne en utilisant </a:t>
            </a:r>
            <a:r>
              <a:rPr lang="fr-FR" b="1" dirty="0"/>
              <a:t>MapReduce</a:t>
            </a:r>
            <a:r>
              <a:rPr lang="fr-FR" dirty="0"/>
              <a:t> et </a:t>
            </a:r>
            <a:r>
              <a:rPr lang="fr-FR" b="1" dirty="0"/>
              <a:t>HDFS</a:t>
            </a:r>
            <a:r>
              <a:rPr lang="fr-FR" dirty="0"/>
              <a:t> pour importer/exporter des données. Si ces services ne sont pas actifs, l'importation échouera.</a:t>
            </a:r>
          </a:p>
        </p:txBody>
      </p:sp>
    </p:spTree>
    <p:extLst>
      <p:ext uri="{BB962C8B-B14F-4D97-AF65-F5344CB8AC3E}">
        <p14:creationId xmlns:p14="http://schemas.microsoft.com/office/powerpoint/2010/main" val="4073888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16632"/>
            <a:ext cx="76683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chemeClr val="accent5"/>
                </a:solidFill>
              </a:rPr>
              <a:t>Dans un terminal normal</a:t>
            </a:r>
            <a:r>
              <a:rPr lang="fr-FR" dirty="0">
                <a:solidFill>
                  <a:schemeClr val="accent5"/>
                </a:solidFill>
              </a:rPr>
              <a:t> (comme </a:t>
            </a:r>
            <a:r>
              <a:rPr lang="fr-FR" dirty="0" err="1">
                <a:solidFill>
                  <a:schemeClr val="accent5"/>
                </a:solidFill>
              </a:rPr>
              <a:t>Cloudera</a:t>
            </a:r>
            <a:r>
              <a:rPr lang="fr-FR" dirty="0">
                <a:solidFill>
                  <a:schemeClr val="accent5"/>
                </a:solidFill>
              </a:rPr>
              <a:t> Terminal, une session SSH, ou un terminal Linux).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6632" y="1174329"/>
            <a:ext cx="22258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err="1"/>
              <a:t>hdfs</a:t>
            </a:r>
            <a:r>
              <a:rPr lang="fr-FR" dirty="0"/>
              <a:t> </a:t>
            </a:r>
            <a:r>
              <a:rPr lang="fr-FR" dirty="0" err="1"/>
              <a:t>dfsadmin</a:t>
            </a:r>
            <a:r>
              <a:rPr lang="fr-FR" dirty="0"/>
              <a:t> -report</a:t>
            </a:r>
          </a:p>
        </p:txBody>
      </p:sp>
      <p:cxnSp>
        <p:nvCxnSpPr>
          <p:cNvPr id="6" name="Connecteur en arc 5"/>
          <p:cNvCxnSpPr/>
          <p:nvPr/>
        </p:nvCxnSpPr>
        <p:spPr>
          <a:xfrm>
            <a:off x="35496" y="762963"/>
            <a:ext cx="1008112" cy="576064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llipse 6"/>
          <p:cNvSpPr/>
          <p:nvPr/>
        </p:nvSpPr>
        <p:spPr>
          <a:xfrm>
            <a:off x="2139565" y="1174329"/>
            <a:ext cx="6264696" cy="35283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solidFill>
                  <a:srgbClr val="C00000"/>
                </a:solidFill>
              </a:rPr>
              <a:t>Pourquoi cette commande ?</a:t>
            </a:r>
          </a:p>
          <a:p>
            <a:r>
              <a:rPr lang="fr-FR" dirty="0"/>
              <a:t>Cette commande permet de </a:t>
            </a:r>
            <a:r>
              <a:rPr lang="fr-FR" b="1" dirty="0"/>
              <a:t>vérifier l’état de HDFS</a:t>
            </a:r>
            <a:r>
              <a:rPr lang="fr-FR" dirty="0"/>
              <a:t>, notamment </a:t>
            </a:r>
            <a:r>
              <a:rPr lang="fr-FR" dirty="0" smtClean="0"/>
              <a:t>:</a:t>
            </a:r>
          </a:p>
          <a:p>
            <a:endParaRPr lang="fr-FR" dirty="0"/>
          </a:p>
          <a:p>
            <a:r>
              <a:rPr lang="fr-FR" b="1" dirty="0"/>
              <a:t> </a:t>
            </a:r>
            <a:r>
              <a:rPr lang="fr-FR" b="1" dirty="0" smtClean="0"/>
              <a:t>            * L’état </a:t>
            </a:r>
            <a:r>
              <a:rPr lang="fr-FR" b="1" dirty="0"/>
              <a:t>du </a:t>
            </a:r>
            <a:r>
              <a:rPr lang="fr-FR" b="1" dirty="0" err="1"/>
              <a:t>NameNode</a:t>
            </a:r>
            <a:r>
              <a:rPr lang="fr-FR" dirty="0"/>
              <a:t> (actif ou non</a:t>
            </a:r>
            <a:r>
              <a:rPr lang="fr-FR" dirty="0" smtClean="0"/>
              <a:t>)</a:t>
            </a:r>
          </a:p>
          <a:p>
            <a:endParaRPr lang="fr-FR" dirty="0"/>
          </a:p>
          <a:p>
            <a:r>
              <a:rPr lang="fr-FR" b="1" dirty="0" smtClean="0"/>
              <a:t>             * Le </a:t>
            </a:r>
            <a:r>
              <a:rPr lang="fr-FR" b="1" dirty="0"/>
              <a:t>nombre de </a:t>
            </a:r>
            <a:r>
              <a:rPr lang="fr-FR" b="1" dirty="0" err="1"/>
              <a:t>DataNodes</a:t>
            </a:r>
            <a:r>
              <a:rPr lang="fr-FR" b="1" dirty="0"/>
              <a:t> en service</a:t>
            </a:r>
            <a:endParaRPr lang="fr-FR" dirty="0"/>
          </a:p>
          <a:p>
            <a:r>
              <a:rPr lang="fr-FR" b="1" dirty="0" smtClean="0"/>
              <a:t>             *L’espace </a:t>
            </a:r>
            <a:r>
              <a:rPr lang="fr-FR" b="1" dirty="0"/>
              <a:t>de stockage disponible dans HDFS</a:t>
            </a:r>
            <a:endParaRPr lang="fr-F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4589854"/>
            <a:ext cx="4104456" cy="22366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623678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105" y="1039962"/>
            <a:ext cx="4892675" cy="2065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191105" y="116632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b="1" dirty="0"/>
              <a:t>Désactiver le </a:t>
            </a:r>
            <a:r>
              <a:rPr lang="fr-FR" b="1" dirty="0" err="1"/>
              <a:t>Safe</a:t>
            </a:r>
            <a:r>
              <a:rPr lang="fr-FR" b="1" dirty="0"/>
              <a:t> Mode</a:t>
            </a:r>
          </a:p>
          <a:p>
            <a:r>
              <a:rPr lang="fr-FR" dirty="0" smtClean="0"/>
              <a:t>On a essayé cette </a:t>
            </a:r>
            <a:r>
              <a:rPr lang="fr-FR" dirty="0"/>
              <a:t>commande avec </a:t>
            </a:r>
            <a:r>
              <a:rPr lang="fr-FR" b="1" dirty="0" err="1"/>
              <a:t>sudo</a:t>
            </a:r>
            <a:r>
              <a:rPr lang="fr-FR" dirty="0"/>
              <a:t> pour quitter le mode sécurisé :</a:t>
            </a:r>
          </a:p>
        </p:txBody>
      </p:sp>
      <p:sp>
        <p:nvSpPr>
          <p:cNvPr id="5" name="Rectangle 4"/>
          <p:cNvSpPr/>
          <p:nvPr/>
        </p:nvSpPr>
        <p:spPr>
          <a:xfrm>
            <a:off x="52760" y="3573016"/>
            <a:ext cx="22860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/>
              <a:t>Redémarrer les services </a:t>
            </a:r>
            <a:r>
              <a:rPr lang="fr-FR" b="1" dirty="0" err="1"/>
              <a:t>Hadoop</a:t>
            </a:r>
            <a:r>
              <a:rPr lang="fr-FR" b="1" dirty="0"/>
              <a:t> (si nécessaire)</a:t>
            </a:r>
          </a:p>
          <a:p>
            <a:r>
              <a:rPr lang="fr-FR" dirty="0"/>
              <a:t>Si la capacité HDFS est toujours à </a:t>
            </a:r>
            <a:r>
              <a:rPr lang="fr-FR" b="1" dirty="0"/>
              <a:t>0 B</a:t>
            </a:r>
            <a:r>
              <a:rPr lang="fr-FR" dirty="0"/>
              <a:t>, il se peut que les </a:t>
            </a:r>
            <a:r>
              <a:rPr lang="fr-FR" b="1" dirty="0" err="1"/>
              <a:t>DataNodes</a:t>
            </a:r>
            <a:r>
              <a:rPr lang="fr-FR" b="1" dirty="0"/>
              <a:t> ne soient pas actifs</a:t>
            </a:r>
            <a:r>
              <a:rPr lang="fr-FR" dirty="0"/>
              <a:t>.</a:t>
            </a:r>
            <a:br>
              <a:rPr lang="fr-FR" dirty="0"/>
            </a:br>
            <a:r>
              <a:rPr lang="fr-FR" dirty="0"/>
              <a:t>Redémarre les services </a:t>
            </a:r>
            <a:r>
              <a:rPr lang="fr-FR" dirty="0" err="1"/>
              <a:t>Hadoop</a:t>
            </a:r>
            <a:r>
              <a:rPr lang="fr-FR" dirty="0"/>
              <a:t> avec :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2066" y="3670695"/>
            <a:ext cx="5994350" cy="3154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110862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7504" y="188640"/>
            <a:ext cx="1935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/>
              <a:t>Puis, </a:t>
            </a:r>
            <a:r>
              <a:rPr lang="fr-FR" b="1" dirty="0" err="1"/>
              <a:t>reteste</a:t>
            </a:r>
            <a:r>
              <a:rPr lang="fr-FR" dirty="0"/>
              <a:t> avec :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64" y="557972"/>
            <a:ext cx="5197475" cy="178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5076056" y="3667036"/>
            <a:ext cx="3384376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/>
              <a:t>Il semble que ton HDFS soit maintenant hors du mode </a:t>
            </a:r>
            <a:r>
              <a:rPr lang="fr-FR" b="1" dirty="0" err="1"/>
              <a:t>safe</a:t>
            </a:r>
            <a:r>
              <a:rPr lang="fr-FR" b="1" dirty="0"/>
              <a:t> mode</a:t>
            </a:r>
            <a:r>
              <a:rPr lang="fr-FR" dirty="0"/>
              <a:t> et que tout soit en ordre avec les </a:t>
            </a:r>
            <a:r>
              <a:rPr lang="fr-FR" b="1" dirty="0" err="1"/>
              <a:t>datanodes</a:t>
            </a:r>
            <a:r>
              <a:rPr lang="fr-FR" dirty="0"/>
              <a:t>. Le rapport montre que la capacité configurée est suffisante et que l'espace restant est de 42.28 GB. Il n'y a pas de blocs sous-répliqués ou manquants, ce qui signifie que tout fonctionne correctement côté stockage.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64" y="2798917"/>
            <a:ext cx="4608512" cy="4002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Flèche vers le bas 6"/>
          <p:cNvSpPr/>
          <p:nvPr/>
        </p:nvSpPr>
        <p:spPr>
          <a:xfrm>
            <a:off x="5580112" y="764704"/>
            <a:ext cx="1188132" cy="18002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04867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260648"/>
            <a:ext cx="7897688" cy="6140152"/>
          </a:xfrm>
        </p:spPr>
        <p:txBody>
          <a:bodyPr/>
          <a:lstStyle/>
          <a:p>
            <a:r>
              <a:rPr lang="fr-FR" dirty="0">
                <a:solidFill>
                  <a:schemeClr val="accent5"/>
                </a:solidFill>
              </a:rPr>
              <a:t>Se connecter à la base de données MySQL en tant qu'utilisateur </a:t>
            </a:r>
            <a:r>
              <a:rPr lang="fr-FR" dirty="0" smtClean="0">
                <a:solidFill>
                  <a:schemeClr val="accent5"/>
                </a:solidFill>
              </a:rPr>
              <a:t>root </a:t>
            </a:r>
            <a:r>
              <a:rPr lang="fr-FR" dirty="0">
                <a:solidFill>
                  <a:schemeClr val="accent5"/>
                </a:solidFill>
              </a:rPr>
              <a:t>avec </a:t>
            </a:r>
            <a:r>
              <a:rPr lang="fr-FR" dirty="0" smtClean="0">
                <a:solidFill>
                  <a:schemeClr val="accent5"/>
                </a:solidFill>
              </a:rPr>
              <a:t>une </a:t>
            </a:r>
            <a:r>
              <a:rPr lang="fr-FR" dirty="0">
                <a:solidFill>
                  <a:schemeClr val="accent5"/>
                </a:solidFill>
              </a:rPr>
              <a:t>authentification par mot de passe</a:t>
            </a:r>
            <a:r>
              <a:rPr lang="fr-FR" dirty="0" smtClean="0">
                <a:solidFill>
                  <a:schemeClr val="accent5"/>
                </a:solidFill>
              </a:rPr>
              <a:t>.</a:t>
            </a:r>
          </a:p>
          <a:p>
            <a:pPr marL="114300" indent="0">
              <a:buNone/>
            </a:pPr>
            <a:r>
              <a:rPr lang="fr-FR" dirty="0">
                <a:solidFill>
                  <a:schemeClr val="accent5"/>
                </a:solidFill>
              </a:rPr>
              <a:t/>
            </a:r>
            <a:br>
              <a:rPr lang="fr-FR" dirty="0">
                <a:solidFill>
                  <a:schemeClr val="accent5"/>
                </a:solidFill>
              </a:rPr>
            </a:br>
            <a:endParaRPr lang="fr-FR" dirty="0" smtClean="0">
              <a:solidFill>
                <a:schemeClr val="accent5"/>
              </a:solidFill>
            </a:endParaRPr>
          </a:p>
          <a:p>
            <a:pPr marL="114300" indent="0">
              <a:buNone/>
            </a:pPr>
            <a:r>
              <a:rPr lang="fr-FR" dirty="0" smtClean="0"/>
              <a:t>       </a:t>
            </a:r>
            <a:r>
              <a:rPr lang="fr-FR" dirty="0" err="1" smtClean="0"/>
              <a:t>mysql</a:t>
            </a:r>
            <a:r>
              <a:rPr lang="fr-FR" dirty="0" smtClean="0"/>
              <a:t> –u root -p</a:t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endParaRPr lang="fr-FR" dirty="0" smtClean="0"/>
          </a:p>
          <a:p>
            <a:pPr marL="114300" indent="0">
              <a:buNone/>
            </a:pPr>
            <a:endParaRPr lang="fr-FR" dirty="0"/>
          </a:p>
          <a:p>
            <a:pPr marL="114300" indent="0">
              <a:buNone/>
            </a:pPr>
            <a:endParaRPr lang="fr-FR" dirty="0" smtClean="0"/>
          </a:p>
          <a:p>
            <a:pPr marL="114300" indent="0">
              <a:buNone/>
            </a:pPr>
            <a:endParaRPr lang="fr-FR" dirty="0"/>
          </a:p>
          <a:p>
            <a:r>
              <a:rPr lang="fr-FR" dirty="0">
                <a:solidFill>
                  <a:schemeClr val="accent5"/>
                </a:solidFill>
              </a:rPr>
              <a:t>Créer une nouvelle base de données appelée </a:t>
            </a:r>
            <a:r>
              <a:rPr lang="fr-FR" b="1" dirty="0">
                <a:solidFill>
                  <a:schemeClr val="accent5"/>
                </a:solidFill>
              </a:rPr>
              <a:t>'</a:t>
            </a:r>
            <a:r>
              <a:rPr lang="fr-FR" b="1" dirty="0" err="1">
                <a:solidFill>
                  <a:schemeClr val="accent5"/>
                </a:solidFill>
              </a:rPr>
              <a:t>supermarket_data</a:t>
            </a:r>
            <a:r>
              <a:rPr lang="fr-FR" b="1" dirty="0">
                <a:solidFill>
                  <a:schemeClr val="accent5"/>
                </a:solidFill>
              </a:rPr>
              <a:t>'</a:t>
            </a:r>
            <a:r>
              <a:rPr lang="fr-FR" dirty="0">
                <a:solidFill>
                  <a:schemeClr val="accent5"/>
                </a:solidFill>
              </a:rPr>
              <a:t> pour stocker les données du commerce</a:t>
            </a:r>
          </a:p>
          <a:p>
            <a:pPr marL="114300" indent="0">
              <a:buNone/>
            </a:pPr>
            <a:endParaRPr lang="fr-FR" dirty="0" smtClean="0"/>
          </a:p>
          <a:p>
            <a:pPr marL="114300" indent="0">
              <a:buNone/>
            </a:pPr>
            <a:r>
              <a:rPr lang="fr-FR" dirty="0"/>
              <a:t>        CREATE DATABASE </a:t>
            </a:r>
            <a:r>
              <a:rPr lang="fr-FR" dirty="0" err="1"/>
              <a:t>supermarket_data</a:t>
            </a:r>
            <a:r>
              <a:rPr lang="fr-FR" dirty="0"/>
              <a:t>;</a:t>
            </a:r>
          </a:p>
          <a:p>
            <a:pPr marL="114300" indent="0">
              <a:buNone/>
            </a:pPr>
            <a:endParaRPr lang="fr-FR" dirty="0"/>
          </a:p>
          <a:p>
            <a:pPr marL="114300" indent="0">
              <a:buNone/>
            </a:pPr>
            <a:endParaRPr lang="fr-FR" dirty="0" smtClean="0"/>
          </a:p>
          <a:p>
            <a:pPr marL="114300" indent="0">
              <a:buNone/>
            </a:pPr>
            <a:endParaRPr lang="fr-FR" dirty="0"/>
          </a:p>
          <a:p>
            <a:pPr marL="114300" indent="0">
              <a:buNone/>
            </a:pPr>
            <a:endParaRPr lang="fr-FR" dirty="0" smtClean="0"/>
          </a:p>
          <a:p>
            <a:pPr marL="114300" indent="0">
              <a:buNone/>
            </a:pPr>
            <a:endParaRPr lang="fr-FR" dirty="0"/>
          </a:p>
        </p:txBody>
      </p:sp>
      <p:cxnSp>
        <p:nvCxnSpPr>
          <p:cNvPr id="6" name="Connecteur en arc 5"/>
          <p:cNvCxnSpPr/>
          <p:nvPr/>
        </p:nvCxnSpPr>
        <p:spPr>
          <a:xfrm>
            <a:off x="96189" y="5085184"/>
            <a:ext cx="643637" cy="258276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lipse 4"/>
          <p:cNvSpPr/>
          <p:nvPr/>
        </p:nvSpPr>
        <p:spPr>
          <a:xfrm>
            <a:off x="1763688" y="2636912"/>
            <a:ext cx="5400600" cy="10984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 smtClean="0"/>
              <a:t>Password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 : </a:t>
            </a:r>
            <a:r>
              <a:rPr lang="fr-FR" dirty="0" err="1" smtClean="0"/>
              <a:t>cloudera</a:t>
            </a:r>
            <a:endParaRPr lang="fr-FR" dirty="0"/>
          </a:p>
        </p:txBody>
      </p:sp>
      <p:cxnSp>
        <p:nvCxnSpPr>
          <p:cNvPr id="7" name="Connecteur en arc 6"/>
          <p:cNvCxnSpPr/>
          <p:nvPr/>
        </p:nvCxnSpPr>
        <p:spPr>
          <a:xfrm>
            <a:off x="184515" y="1484784"/>
            <a:ext cx="643637" cy="258276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28726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88640"/>
            <a:ext cx="769985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accent5"/>
                </a:solidFill>
              </a:rPr>
              <a:t>Sélectionner la base de données avant de créer la table</a:t>
            </a:r>
          </a:p>
        </p:txBody>
      </p:sp>
      <p:cxnSp>
        <p:nvCxnSpPr>
          <p:cNvPr id="11" name="Connecteur en arc 10"/>
          <p:cNvCxnSpPr/>
          <p:nvPr/>
        </p:nvCxnSpPr>
        <p:spPr>
          <a:xfrm>
            <a:off x="184515" y="836712"/>
            <a:ext cx="643637" cy="258276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971600" y="979030"/>
            <a:ext cx="2349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/>
              <a:t>u</a:t>
            </a:r>
            <a:r>
              <a:rPr lang="fr-FR" dirty="0" smtClean="0"/>
              <a:t>se </a:t>
            </a:r>
            <a:r>
              <a:rPr lang="fr-FR" dirty="0" err="1" smtClean="0"/>
              <a:t>supermarket_data</a:t>
            </a:r>
            <a:r>
              <a:rPr lang="fr-FR" dirty="0" smtClean="0"/>
              <a:t>;</a:t>
            </a:r>
            <a:endParaRPr lang="fr-FR" dirty="0"/>
          </a:p>
        </p:txBody>
      </p:sp>
      <p:sp>
        <p:nvSpPr>
          <p:cNvPr id="3" name="Rectangle 2"/>
          <p:cNvSpPr/>
          <p:nvPr/>
        </p:nvSpPr>
        <p:spPr>
          <a:xfrm>
            <a:off x="184515" y="1844824"/>
            <a:ext cx="23055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accent5"/>
                </a:solidFill>
              </a:rPr>
              <a:t>Création de la table</a:t>
            </a:r>
          </a:p>
        </p:txBody>
      </p:sp>
      <p:cxnSp>
        <p:nvCxnSpPr>
          <p:cNvPr id="10" name="Connecteur en arc 9"/>
          <p:cNvCxnSpPr/>
          <p:nvPr/>
        </p:nvCxnSpPr>
        <p:spPr>
          <a:xfrm>
            <a:off x="184514" y="2564904"/>
            <a:ext cx="643637" cy="258276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035154" y="2712610"/>
            <a:ext cx="4572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dirty="0"/>
              <a:t>CREATE TABLE </a:t>
            </a:r>
            <a:r>
              <a:rPr lang="fr-FR" dirty="0" err="1"/>
              <a:t>supermarket_data</a:t>
            </a:r>
            <a:r>
              <a:rPr lang="fr-FR" dirty="0"/>
              <a:t> (</a:t>
            </a:r>
          </a:p>
          <a:p>
            <a:r>
              <a:rPr lang="fr-FR" dirty="0"/>
              <a:t>    </a:t>
            </a:r>
            <a:r>
              <a:rPr lang="fr-FR" dirty="0" err="1"/>
              <a:t>Invoice</a:t>
            </a:r>
            <a:r>
              <a:rPr lang="fr-FR" dirty="0"/>
              <a:t> VARCHAR(20),</a:t>
            </a:r>
          </a:p>
          <a:p>
            <a:r>
              <a:rPr lang="fr-FR" dirty="0"/>
              <a:t>    </a:t>
            </a:r>
            <a:r>
              <a:rPr lang="fr-FR" dirty="0" err="1"/>
              <a:t>StockCode</a:t>
            </a:r>
            <a:r>
              <a:rPr lang="fr-FR" dirty="0"/>
              <a:t> VARCHAR(20),</a:t>
            </a:r>
          </a:p>
          <a:p>
            <a:r>
              <a:rPr lang="fr-FR" dirty="0"/>
              <a:t>    Description TEXT,</a:t>
            </a:r>
          </a:p>
          <a:p>
            <a:r>
              <a:rPr lang="fr-FR" dirty="0"/>
              <a:t>    </a:t>
            </a:r>
            <a:r>
              <a:rPr lang="fr-FR" dirty="0" err="1"/>
              <a:t>Quantity</a:t>
            </a:r>
            <a:r>
              <a:rPr lang="fr-FR" dirty="0"/>
              <a:t> INT,</a:t>
            </a:r>
          </a:p>
          <a:p>
            <a:r>
              <a:rPr lang="fr-FR" dirty="0"/>
              <a:t>    </a:t>
            </a:r>
            <a:r>
              <a:rPr lang="fr-FR" dirty="0" err="1"/>
              <a:t>InvoiceDate</a:t>
            </a:r>
            <a:r>
              <a:rPr lang="fr-FR" dirty="0"/>
              <a:t> DATETIME,</a:t>
            </a:r>
          </a:p>
          <a:p>
            <a:r>
              <a:rPr lang="fr-FR" dirty="0"/>
              <a:t>    Price DECIMAL(10,2),</a:t>
            </a:r>
          </a:p>
          <a:p>
            <a:r>
              <a:rPr lang="fr-FR" dirty="0"/>
              <a:t>    </a:t>
            </a:r>
            <a:r>
              <a:rPr lang="fr-FR" dirty="0" err="1"/>
              <a:t>CustomerID</a:t>
            </a:r>
            <a:r>
              <a:rPr lang="fr-FR" dirty="0"/>
              <a:t> INT,</a:t>
            </a:r>
          </a:p>
          <a:p>
            <a:r>
              <a:rPr lang="fr-FR" dirty="0"/>
              <a:t>    Country VARCHAR(100)</a:t>
            </a:r>
          </a:p>
          <a:p>
            <a:r>
              <a:rPr lang="fr-FR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7238382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234" y="116632"/>
            <a:ext cx="84511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>
                <a:solidFill>
                  <a:schemeClr val="accent5"/>
                </a:solidFill>
              </a:rPr>
              <a:t>Importation des </a:t>
            </a:r>
            <a:r>
              <a:rPr lang="fr-FR" dirty="0">
                <a:solidFill>
                  <a:schemeClr val="accent5"/>
                </a:solidFill>
              </a:rPr>
              <a:t>données à partir d'un fichier CSV dans la table </a:t>
            </a:r>
            <a:r>
              <a:rPr lang="fr-FR" dirty="0" err="1" smtClean="0">
                <a:solidFill>
                  <a:schemeClr val="accent5"/>
                </a:solidFill>
              </a:rPr>
              <a:t>supermarket_data</a:t>
            </a:r>
            <a:endParaRPr lang="fr-FR" dirty="0">
              <a:solidFill>
                <a:schemeClr val="accent5"/>
              </a:solidFill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528095"/>
            <a:ext cx="4205727" cy="25701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5727" y="2996953"/>
            <a:ext cx="4254705" cy="1944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4763545"/>
            <a:ext cx="4205727" cy="20944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402105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80097"/>
            <a:ext cx="83884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accent5"/>
                </a:solidFill>
              </a:rPr>
              <a:t>Le fichier est délimité par des virgules et la première ligne (en-têtes) est ignorée</a:t>
            </a:r>
            <a:r>
              <a:rPr lang="fr-FR" dirty="0"/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924518" y="750355"/>
            <a:ext cx="669674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LOAD DATA LOCAL INFILE '/home/</a:t>
            </a:r>
            <a:r>
              <a:rPr lang="en-US" dirty="0" err="1"/>
              <a:t>cloudera</a:t>
            </a:r>
            <a:r>
              <a:rPr lang="en-US" dirty="0"/>
              <a:t>/Downloads/</a:t>
            </a:r>
            <a:r>
              <a:rPr lang="en-US" dirty="0" err="1"/>
              <a:t>supermarket_data</a:t>
            </a:r>
            <a:r>
              <a:rPr lang="en-US" dirty="0"/>
              <a:t>'</a:t>
            </a:r>
          </a:p>
          <a:p>
            <a:r>
              <a:rPr lang="en-US" dirty="0"/>
              <a:t>INTO TABLE </a:t>
            </a:r>
            <a:r>
              <a:rPr lang="en-US" dirty="0" err="1"/>
              <a:t>supermarket_sales</a:t>
            </a:r>
            <a:endParaRPr lang="en-US" dirty="0"/>
          </a:p>
          <a:p>
            <a:r>
              <a:rPr lang="en-US" dirty="0"/>
              <a:t>FIELDS TERMINATED BY ','</a:t>
            </a:r>
          </a:p>
          <a:p>
            <a:r>
              <a:rPr lang="en-US" dirty="0"/>
              <a:t>LINES TERMINATED BY '\n'</a:t>
            </a:r>
          </a:p>
          <a:p>
            <a:r>
              <a:rPr lang="en-US" dirty="0"/>
              <a:t>IGNORE 1 LINES;</a:t>
            </a:r>
          </a:p>
        </p:txBody>
      </p:sp>
      <p:cxnSp>
        <p:nvCxnSpPr>
          <p:cNvPr id="9" name="Connecteur en arc 8"/>
          <p:cNvCxnSpPr/>
          <p:nvPr/>
        </p:nvCxnSpPr>
        <p:spPr>
          <a:xfrm>
            <a:off x="77589" y="749266"/>
            <a:ext cx="643637" cy="258276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56417" y="2654833"/>
            <a:ext cx="8016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accent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Vérifier l'importation des données en affichant les 5 </a:t>
            </a: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accent5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premières</a:t>
            </a: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accent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lignes de la table.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05083" y="3244334"/>
            <a:ext cx="42727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SELECT * FROM </a:t>
            </a:r>
            <a:r>
              <a:rPr lang="en-US" dirty="0" err="1"/>
              <a:t>supermarket_sales</a:t>
            </a:r>
            <a:r>
              <a:rPr lang="en-US" dirty="0"/>
              <a:t> LIMIT 5;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4580" y="3633144"/>
            <a:ext cx="8607019" cy="32248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3" name="Connecteur en arc 12"/>
          <p:cNvCxnSpPr/>
          <p:nvPr/>
        </p:nvCxnSpPr>
        <p:spPr>
          <a:xfrm>
            <a:off x="-25048" y="3140968"/>
            <a:ext cx="643637" cy="258276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34739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50515"/>
            <a:ext cx="83164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>
                <a:solidFill>
                  <a:schemeClr val="accent5"/>
                </a:solidFill>
              </a:rPr>
              <a:t>Modification du  </a:t>
            </a:r>
            <a:r>
              <a:rPr lang="fr-FR" dirty="0">
                <a:solidFill>
                  <a:schemeClr val="accent5"/>
                </a:solidFill>
              </a:rPr>
              <a:t>fichier de configuration de YARN pour activer le service de répartition MapReduce.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179512" y="980728"/>
            <a:ext cx="77768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accent5"/>
                </a:solidFill>
              </a:rPr>
              <a:t>Ceci est essentiel pour les tâches </a:t>
            </a:r>
            <a:r>
              <a:rPr lang="fr-FR" dirty="0" err="1">
                <a:solidFill>
                  <a:schemeClr val="accent5"/>
                </a:solidFill>
              </a:rPr>
              <a:t>Sqoop</a:t>
            </a:r>
            <a:r>
              <a:rPr lang="fr-FR" dirty="0">
                <a:solidFill>
                  <a:schemeClr val="accent5"/>
                </a:solidFill>
              </a:rPr>
              <a:t> qui dépendent de MapReduce pour fonctionner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9290" y="1997589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dirty="0" err="1"/>
              <a:t>sudo</a:t>
            </a:r>
            <a:r>
              <a:rPr lang="fr-FR" dirty="0"/>
              <a:t> nano /etc/</a:t>
            </a:r>
            <a:r>
              <a:rPr lang="fr-FR" dirty="0" err="1"/>
              <a:t>hadoop</a:t>
            </a:r>
            <a:r>
              <a:rPr lang="fr-FR" dirty="0"/>
              <a:t>/</a:t>
            </a:r>
            <a:r>
              <a:rPr lang="fr-FR" dirty="0" err="1"/>
              <a:t>conf</a:t>
            </a:r>
            <a:r>
              <a:rPr lang="fr-FR" dirty="0"/>
              <a:t>/yarn-site.xml</a:t>
            </a:r>
          </a:p>
          <a:p>
            <a:endParaRPr lang="fr-FR" dirty="0"/>
          </a:p>
        </p:txBody>
      </p:sp>
      <p:cxnSp>
        <p:nvCxnSpPr>
          <p:cNvPr id="7" name="Connecteur en arc 6"/>
          <p:cNvCxnSpPr/>
          <p:nvPr/>
        </p:nvCxnSpPr>
        <p:spPr>
          <a:xfrm>
            <a:off x="-12248" y="1772816"/>
            <a:ext cx="1199872" cy="504056"/>
          </a:xfrm>
          <a:prstGeom prst="curved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95" y="2420888"/>
            <a:ext cx="8280920" cy="4419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903826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07504" y="38940"/>
            <a:ext cx="83529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/>
              <a:t>Ajouter ces </a:t>
            </a:r>
            <a:r>
              <a:rPr lang="fr-FR" dirty="0"/>
              <a:t>propriétés de configuration pour activer le service de répartition MapReduce dans YARN</a:t>
            </a:r>
          </a:p>
        </p:txBody>
      </p:sp>
      <p:sp>
        <p:nvSpPr>
          <p:cNvPr id="7" name="Rectangle 6"/>
          <p:cNvSpPr/>
          <p:nvPr/>
        </p:nvSpPr>
        <p:spPr>
          <a:xfrm>
            <a:off x="3376133" y="1772816"/>
            <a:ext cx="4572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dirty="0"/>
              <a:t>👉 </a:t>
            </a:r>
            <a:r>
              <a:rPr lang="fr-FR" b="1" dirty="0"/>
              <a:t>Le </a:t>
            </a:r>
            <a:r>
              <a:rPr lang="fr-FR" b="1" dirty="0" err="1"/>
              <a:t>shuffle</a:t>
            </a:r>
            <a:r>
              <a:rPr lang="fr-FR" b="1" dirty="0"/>
              <a:t> est une étape essentielle de MapReduce</a:t>
            </a:r>
            <a:r>
              <a:rPr lang="fr-FR" dirty="0"/>
              <a:t>, car il permet aux données d'être transférées entre les </a:t>
            </a:r>
            <a:r>
              <a:rPr lang="fr-FR" dirty="0" err="1"/>
              <a:t>Mappers</a:t>
            </a:r>
            <a:r>
              <a:rPr lang="fr-FR" dirty="0"/>
              <a:t> et les </a:t>
            </a:r>
            <a:r>
              <a:rPr lang="fr-FR" dirty="0" err="1"/>
              <a:t>Reducers</a:t>
            </a:r>
            <a:r>
              <a:rPr lang="fr-FR" dirty="0"/>
              <a:t>.</a:t>
            </a:r>
            <a:br>
              <a:rPr lang="fr-FR" dirty="0"/>
            </a:br>
            <a:r>
              <a:rPr lang="fr-FR" dirty="0"/>
              <a:t>👉 </a:t>
            </a:r>
            <a:r>
              <a:rPr lang="fr-FR" b="1" dirty="0"/>
              <a:t>L'erreur "</a:t>
            </a:r>
            <a:r>
              <a:rPr lang="fr-FR" b="1" dirty="0" err="1"/>
              <a:t>auxService:mapreduce_shuffle</a:t>
            </a:r>
            <a:r>
              <a:rPr lang="fr-FR" b="1" dirty="0"/>
              <a:t> </a:t>
            </a:r>
            <a:r>
              <a:rPr lang="fr-FR" b="1" dirty="0" err="1"/>
              <a:t>does</a:t>
            </a:r>
            <a:r>
              <a:rPr lang="fr-FR" b="1" dirty="0"/>
              <a:t> not </a:t>
            </a:r>
            <a:r>
              <a:rPr lang="fr-FR" b="1" dirty="0" err="1"/>
              <a:t>exist</a:t>
            </a:r>
            <a:r>
              <a:rPr lang="fr-FR" b="1" dirty="0"/>
              <a:t>" apparaît lorsque le service </a:t>
            </a:r>
            <a:r>
              <a:rPr lang="fr-FR" b="1" dirty="0" err="1"/>
              <a:t>Shuffle</a:t>
            </a:r>
            <a:r>
              <a:rPr lang="fr-FR" b="1" dirty="0"/>
              <a:t> n'est pas activé.</a:t>
            </a:r>
            <a:r>
              <a:rPr lang="fr-FR" dirty="0"/>
              <a:t/>
            </a:r>
            <a:br>
              <a:rPr lang="fr-FR" dirty="0"/>
            </a:br>
            <a:r>
              <a:rPr lang="fr-FR" dirty="0"/>
              <a:t>👉 </a:t>
            </a:r>
            <a:r>
              <a:rPr lang="fr-FR" b="1" dirty="0"/>
              <a:t>Ces configurations activent ce service, corrigeant ainsi l'erreur et permettant à MapReduce de fonctionner correctement.</a:t>
            </a:r>
            <a:endParaRPr lang="fr-FR" dirty="0"/>
          </a:p>
        </p:txBody>
      </p:sp>
      <p:sp>
        <p:nvSpPr>
          <p:cNvPr id="8" name="Rectangle 7"/>
          <p:cNvSpPr/>
          <p:nvPr/>
        </p:nvSpPr>
        <p:spPr>
          <a:xfrm>
            <a:off x="76454" y="1052736"/>
            <a:ext cx="351243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b="1" i="1" u="sng" dirty="0" smtClean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/** EXPLICATION ::**/</a:t>
            </a:r>
            <a:endParaRPr lang="fr-FR" sz="2800" b="1" i="1" u="sng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0" name="Connecteur en angle 9"/>
          <p:cNvCxnSpPr/>
          <p:nvPr/>
        </p:nvCxnSpPr>
        <p:spPr>
          <a:xfrm>
            <a:off x="1259632" y="1916832"/>
            <a:ext cx="1872208" cy="864096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71996" y="4557578"/>
            <a:ext cx="758843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/>
              <a:t>&lt;</a:t>
            </a:r>
            <a:r>
              <a:rPr lang="fr-FR" dirty="0" err="1"/>
              <a:t>property</a:t>
            </a:r>
            <a:r>
              <a:rPr lang="fr-FR" dirty="0"/>
              <a:t>&gt;</a:t>
            </a:r>
          </a:p>
          <a:p>
            <a:r>
              <a:rPr lang="fr-FR" dirty="0"/>
              <a:t>  &lt;</a:t>
            </a:r>
            <a:r>
              <a:rPr lang="fr-FR" dirty="0" err="1"/>
              <a:t>name</a:t>
            </a:r>
            <a:r>
              <a:rPr lang="fr-FR" dirty="0"/>
              <a:t>&gt;</a:t>
            </a:r>
            <a:r>
              <a:rPr lang="fr-FR" dirty="0" err="1"/>
              <a:t>yarn.nodemanager.aux</a:t>
            </a:r>
            <a:r>
              <a:rPr lang="fr-FR" dirty="0"/>
              <a:t>-services&lt;/</a:t>
            </a:r>
            <a:r>
              <a:rPr lang="fr-FR" dirty="0" err="1"/>
              <a:t>name</a:t>
            </a:r>
            <a:r>
              <a:rPr lang="fr-FR" dirty="0"/>
              <a:t>&gt;</a:t>
            </a:r>
          </a:p>
          <a:p>
            <a:r>
              <a:rPr lang="fr-FR" dirty="0"/>
              <a:t>  &lt;value&gt;</a:t>
            </a:r>
            <a:r>
              <a:rPr lang="fr-FR" dirty="0" err="1"/>
              <a:t>mapreduce_shuffle</a:t>
            </a:r>
            <a:r>
              <a:rPr lang="fr-FR" dirty="0"/>
              <a:t>&lt;/value&gt;</a:t>
            </a:r>
          </a:p>
          <a:p>
            <a:r>
              <a:rPr lang="fr-FR" dirty="0"/>
              <a:t>&lt;/</a:t>
            </a:r>
            <a:r>
              <a:rPr lang="fr-FR" dirty="0" err="1"/>
              <a:t>property</a:t>
            </a:r>
            <a:r>
              <a:rPr lang="fr-FR" dirty="0"/>
              <a:t>&gt;</a:t>
            </a:r>
          </a:p>
          <a:p>
            <a:r>
              <a:rPr lang="fr-FR" dirty="0"/>
              <a:t>&lt;</a:t>
            </a:r>
            <a:r>
              <a:rPr lang="fr-FR" dirty="0" err="1"/>
              <a:t>property</a:t>
            </a:r>
            <a:r>
              <a:rPr lang="fr-FR" dirty="0"/>
              <a:t>&gt;</a:t>
            </a:r>
          </a:p>
          <a:p>
            <a:r>
              <a:rPr lang="fr-FR" dirty="0"/>
              <a:t>  &lt;</a:t>
            </a:r>
            <a:r>
              <a:rPr lang="fr-FR" dirty="0" err="1"/>
              <a:t>name</a:t>
            </a:r>
            <a:r>
              <a:rPr lang="fr-FR" dirty="0"/>
              <a:t>&gt;</a:t>
            </a:r>
            <a:r>
              <a:rPr lang="fr-FR" dirty="0" err="1"/>
              <a:t>yarn.nodemanager.aux-services.mapreduce_shuffle.class</a:t>
            </a:r>
            <a:r>
              <a:rPr lang="fr-FR" dirty="0"/>
              <a:t>&lt;/</a:t>
            </a:r>
            <a:r>
              <a:rPr lang="fr-FR" dirty="0" err="1"/>
              <a:t>name</a:t>
            </a:r>
            <a:r>
              <a:rPr lang="fr-FR" dirty="0"/>
              <a:t>&gt;</a:t>
            </a:r>
          </a:p>
          <a:p>
            <a:r>
              <a:rPr lang="fr-FR" dirty="0"/>
              <a:t>  &lt;value&gt;</a:t>
            </a:r>
            <a:r>
              <a:rPr lang="fr-FR" dirty="0" err="1"/>
              <a:t>org.apache.hadoop.mapred.ShuffleHandler</a:t>
            </a:r>
            <a:r>
              <a:rPr lang="fr-FR" dirty="0"/>
              <a:t>&lt;/value&gt;</a:t>
            </a:r>
          </a:p>
          <a:p>
            <a:r>
              <a:rPr lang="fr-FR" dirty="0"/>
              <a:t>&lt;/</a:t>
            </a:r>
            <a:r>
              <a:rPr lang="fr-FR" dirty="0" err="1"/>
              <a:t>property</a:t>
            </a:r>
            <a:r>
              <a:rPr lang="fr-FR" dirty="0"/>
              <a:t>&gt;</a:t>
            </a:r>
          </a:p>
        </p:txBody>
      </p:sp>
      <p:cxnSp>
        <p:nvCxnSpPr>
          <p:cNvPr id="13" name="Connecteur en arc 12"/>
          <p:cNvCxnSpPr/>
          <p:nvPr/>
        </p:nvCxnSpPr>
        <p:spPr>
          <a:xfrm>
            <a:off x="67378" y="4358139"/>
            <a:ext cx="904222" cy="367005"/>
          </a:xfrm>
          <a:prstGeom prst="curved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23232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83884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>
                <a:solidFill>
                  <a:schemeClr val="accent5"/>
                </a:solidFill>
              </a:rPr>
              <a:t>Démarrage </a:t>
            </a:r>
            <a:r>
              <a:rPr lang="fr-FR" dirty="0">
                <a:solidFill>
                  <a:schemeClr val="accent5"/>
                </a:solidFill>
              </a:rPr>
              <a:t>les services </a:t>
            </a:r>
            <a:r>
              <a:rPr lang="fr-FR" dirty="0" err="1">
                <a:solidFill>
                  <a:schemeClr val="accent5"/>
                </a:solidFill>
              </a:rPr>
              <a:t>Hadoop</a:t>
            </a:r>
            <a:r>
              <a:rPr lang="fr-FR" dirty="0">
                <a:solidFill>
                  <a:schemeClr val="accent5"/>
                </a:solidFill>
              </a:rPr>
              <a:t> nécessaires au fonctionnement de HDFS, YARN et MapReduce.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7504" y="908720"/>
            <a:ext cx="82809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chemeClr val="accent5"/>
                </a:solidFill>
              </a:rPr>
              <a:t>/** </a:t>
            </a:r>
            <a:r>
              <a:rPr lang="fr-FR" b="1" dirty="0" smtClean="0">
                <a:solidFill>
                  <a:schemeClr val="accent6">
                    <a:lumMod val="50000"/>
                  </a:schemeClr>
                </a:solidFill>
              </a:rPr>
              <a:t>Ces </a:t>
            </a:r>
            <a:r>
              <a:rPr lang="fr-FR" b="1" dirty="0">
                <a:solidFill>
                  <a:schemeClr val="accent6">
                    <a:lumMod val="50000"/>
                  </a:schemeClr>
                </a:solidFill>
              </a:rPr>
              <a:t>services doivent être en cours d'exécution pour que </a:t>
            </a:r>
            <a:r>
              <a:rPr lang="fr-FR" b="1" dirty="0" err="1">
                <a:solidFill>
                  <a:schemeClr val="accent6">
                    <a:lumMod val="50000"/>
                  </a:schemeClr>
                </a:solidFill>
              </a:rPr>
              <a:t>Sqoop</a:t>
            </a:r>
            <a:r>
              <a:rPr lang="fr-FR" b="1" dirty="0">
                <a:solidFill>
                  <a:schemeClr val="accent6">
                    <a:lumMod val="50000"/>
                  </a:schemeClr>
                </a:solidFill>
              </a:rPr>
              <a:t> fonctionne </a:t>
            </a:r>
            <a:r>
              <a:rPr lang="fr-FR" b="1" dirty="0" smtClean="0">
                <a:solidFill>
                  <a:schemeClr val="accent6">
                    <a:lumMod val="50000"/>
                  </a:schemeClr>
                </a:solidFill>
              </a:rPr>
              <a:t>correctement </a:t>
            </a:r>
            <a:r>
              <a:rPr lang="fr-FR" b="1" dirty="0" smtClean="0">
                <a:solidFill>
                  <a:schemeClr val="accent5"/>
                </a:solidFill>
              </a:rPr>
              <a:t>**/</a:t>
            </a:r>
            <a:endParaRPr lang="fr-FR" b="1" dirty="0">
              <a:solidFill>
                <a:schemeClr val="accent5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619672" y="2327337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dirty="0" err="1"/>
              <a:t>sudo</a:t>
            </a:r>
            <a:r>
              <a:rPr lang="fr-FR" dirty="0"/>
              <a:t> service </a:t>
            </a:r>
            <a:r>
              <a:rPr lang="fr-FR" dirty="0" err="1"/>
              <a:t>hadoop-hdfs-namenode</a:t>
            </a:r>
            <a:r>
              <a:rPr lang="fr-FR" dirty="0"/>
              <a:t> </a:t>
            </a:r>
            <a:r>
              <a:rPr lang="fr-FR" dirty="0" err="1" smtClean="0"/>
              <a:t>start</a:t>
            </a:r>
            <a:endParaRPr lang="fr-FR" dirty="0"/>
          </a:p>
        </p:txBody>
      </p:sp>
      <p:cxnSp>
        <p:nvCxnSpPr>
          <p:cNvPr id="8" name="Connecteur en arc 7"/>
          <p:cNvCxnSpPr/>
          <p:nvPr/>
        </p:nvCxnSpPr>
        <p:spPr>
          <a:xfrm>
            <a:off x="251520" y="1772816"/>
            <a:ext cx="1224136" cy="720080"/>
          </a:xfrm>
          <a:prstGeom prst="curved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852935"/>
            <a:ext cx="7416824" cy="28458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550924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63688" y="940078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dirty="0" err="1"/>
              <a:t>sudo</a:t>
            </a:r>
            <a:r>
              <a:rPr lang="fr-FR" dirty="0"/>
              <a:t> service </a:t>
            </a:r>
            <a:r>
              <a:rPr lang="fr-FR" dirty="0" err="1"/>
              <a:t>hadoop-hdfs-datanode</a:t>
            </a:r>
            <a:r>
              <a:rPr lang="fr-FR" dirty="0"/>
              <a:t> </a:t>
            </a:r>
            <a:r>
              <a:rPr lang="fr-FR" dirty="0" err="1" smtClean="0"/>
              <a:t>start</a:t>
            </a:r>
            <a:endParaRPr lang="fr-FR" dirty="0"/>
          </a:p>
        </p:txBody>
      </p:sp>
      <p:cxnSp>
        <p:nvCxnSpPr>
          <p:cNvPr id="6" name="Connecteur en arc 5"/>
          <p:cNvCxnSpPr/>
          <p:nvPr/>
        </p:nvCxnSpPr>
        <p:spPr>
          <a:xfrm>
            <a:off x="179512" y="260648"/>
            <a:ext cx="1440160" cy="864096"/>
          </a:xfrm>
          <a:prstGeom prst="curved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56792"/>
            <a:ext cx="8316416" cy="1584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8" name="Connecteur en arc 7"/>
          <p:cNvCxnSpPr/>
          <p:nvPr/>
        </p:nvCxnSpPr>
        <p:spPr>
          <a:xfrm>
            <a:off x="179512" y="3501008"/>
            <a:ext cx="1368152" cy="648072"/>
          </a:xfrm>
          <a:prstGeom prst="curved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547664" y="3755986"/>
            <a:ext cx="56886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err="1"/>
              <a:t>sudo</a:t>
            </a:r>
            <a:r>
              <a:rPr lang="fr-FR" dirty="0"/>
              <a:t> service </a:t>
            </a:r>
            <a:r>
              <a:rPr lang="fr-FR" dirty="0" err="1"/>
              <a:t>hadoop-yarn-resourcemanager</a:t>
            </a:r>
            <a:r>
              <a:rPr lang="fr-FR" dirty="0"/>
              <a:t> </a:t>
            </a:r>
            <a:r>
              <a:rPr lang="fr-FR" dirty="0" err="1"/>
              <a:t>start</a:t>
            </a:r>
            <a:endParaRPr lang="fr-FR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40" y="4365104"/>
            <a:ext cx="8462771" cy="18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094069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83568" y="635985"/>
            <a:ext cx="44704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err="1"/>
              <a:t>sudo</a:t>
            </a:r>
            <a:r>
              <a:rPr lang="fr-FR" dirty="0"/>
              <a:t> service </a:t>
            </a:r>
            <a:r>
              <a:rPr lang="fr-FR" dirty="0" err="1"/>
              <a:t>hadoop-yarn-nodemanager</a:t>
            </a:r>
            <a:r>
              <a:rPr lang="fr-FR" dirty="0"/>
              <a:t> </a:t>
            </a:r>
            <a:r>
              <a:rPr lang="fr-FR" dirty="0" err="1"/>
              <a:t>start</a:t>
            </a:r>
            <a:endParaRPr lang="fr-FR" dirty="0"/>
          </a:p>
        </p:txBody>
      </p:sp>
      <p:cxnSp>
        <p:nvCxnSpPr>
          <p:cNvPr id="7" name="Connecteur en arc 6"/>
          <p:cNvCxnSpPr/>
          <p:nvPr/>
        </p:nvCxnSpPr>
        <p:spPr>
          <a:xfrm rot="16200000" flipH="1">
            <a:off x="43527" y="252617"/>
            <a:ext cx="704019" cy="432048"/>
          </a:xfrm>
          <a:prstGeom prst="curved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34535"/>
            <a:ext cx="8460432" cy="1530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9" name="Connecteur en arc 8"/>
          <p:cNvCxnSpPr/>
          <p:nvPr/>
        </p:nvCxnSpPr>
        <p:spPr>
          <a:xfrm>
            <a:off x="0" y="2852936"/>
            <a:ext cx="1115616" cy="792088"/>
          </a:xfrm>
          <a:prstGeom prst="curved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148110" y="3429000"/>
            <a:ext cx="62322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err="1"/>
              <a:t>sudo</a:t>
            </a:r>
            <a:r>
              <a:rPr lang="fr-FR" dirty="0"/>
              <a:t> service </a:t>
            </a:r>
            <a:r>
              <a:rPr lang="fr-FR" dirty="0" err="1"/>
              <a:t>hadoop-mapreduce-historyserver</a:t>
            </a:r>
            <a:r>
              <a:rPr lang="fr-FR" dirty="0"/>
              <a:t> </a:t>
            </a:r>
            <a:r>
              <a:rPr lang="fr-FR" dirty="0" err="1"/>
              <a:t>start</a:t>
            </a:r>
            <a:endParaRPr lang="fr-FR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90" y="3882035"/>
            <a:ext cx="8436842" cy="1249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90" y="5373216"/>
            <a:ext cx="7716762" cy="6596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327785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532440" cy="6857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39759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5601" y="1600200"/>
            <a:ext cx="6023198" cy="48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139342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cteur en arc 4"/>
          <p:cNvCxnSpPr/>
          <p:nvPr/>
        </p:nvCxnSpPr>
        <p:spPr>
          <a:xfrm>
            <a:off x="179512" y="116632"/>
            <a:ext cx="936104" cy="792088"/>
          </a:xfrm>
          <a:prstGeom prst="curved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187624" y="724054"/>
            <a:ext cx="43077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err="1"/>
              <a:t>sudo</a:t>
            </a:r>
            <a:r>
              <a:rPr lang="fr-FR" dirty="0"/>
              <a:t> -u </a:t>
            </a:r>
            <a:r>
              <a:rPr lang="fr-FR" dirty="0" err="1"/>
              <a:t>hdfs</a:t>
            </a:r>
            <a:r>
              <a:rPr lang="fr-FR" dirty="0"/>
              <a:t> </a:t>
            </a:r>
            <a:r>
              <a:rPr lang="fr-FR" dirty="0" err="1"/>
              <a:t>hdfs</a:t>
            </a:r>
            <a:r>
              <a:rPr lang="fr-FR" dirty="0"/>
              <a:t> </a:t>
            </a:r>
            <a:r>
              <a:rPr lang="fr-FR" dirty="0" err="1"/>
              <a:t>dfsadmin</a:t>
            </a:r>
            <a:r>
              <a:rPr lang="fr-FR" dirty="0"/>
              <a:t> -</a:t>
            </a:r>
            <a:r>
              <a:rPr lang="fr-FR" dirty="0" err="1"/>
              <a:t>safemode</a:t>
            </a:r>
            <a:r>
              <a:rPr lang="fr-FR" dirty="0"/>
              <a:t> </a:t>
            </a:r>
            <a:r>
              <a:rPr lang="fr-FR" dirty="0" err="1"/>
              <a:t>leave</a:t>
            </a:r>
            <a:endParaRPr lang="fr-FR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30" y="1412776"/>
            <a:ext cx="8417702" cy="609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387" y="3861048"/>
            <a:ext cx="7998057" cy="86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8" name="Connecteur en arc 7"/>
          <p:cNvCxnSpPr/>
          <p:nvPr/>
        </p:nvCxnSpPr>
        <p:spPr>
          <a:xfrm>
            <a:off x="173387" y="2708920"/>
            <a:ext cx="654197" cy="576064"/>
          </a:xfrm>
          <a:prstGeom prst="curved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852289" y="3100318"/>
            <a:ext cx="40281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err="1"/>
              <a:t>hdfs</a:t>
            </a:r>
            <a:r>
              <a:rPr lang="fr-FR" dirty="0"/>
              <a:t> </a:t>
            </a:r>
            <a:r>
              <a:rPr lang="fr-FR" dirty="0" err="1"/>
              <a:t>dfs</a:t>
            </a:r>
            <a:r>
              <a:rPr lang="fr-FR" dirty="0"/>
              <a:t> -ls /user/root/</a:t>
            </a:r>
            <a:r>
              <a:rPr lang="fr-FR" dirty="0" err="1"/>
              <a:t>supermarket_data</a:t>
            </a:r>
            <a:endParaRPr lang="fr-FR" dirty="0"/>
          </a:p>
        </p:txBody>
      </p:sp>
      <p:cxnSp>
        <p:nvCxnSpPr>
          <p:cNvPr id="11" name="Connecteur en arc 10"/>
          <p:cNvCxnSpPr/>
          <p:nvPr/>
        </p:nvCxnSpPr>
        <p:spPr>
          <a:xfrm>
            <a:off x="173387" y="5229200"/>
            <a:ext cx="798213" cy="576064"/>
          </a:xfrm>
          <a:prstGeom prst="curved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975494" y="5661248"/>
            <a:ext cx="75569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err="1"/>
              <a:t>hdfs</a:t>
            </a:r>
            <a:r>
              <a:rPr lang="fr-FR" dirty="0"/>
              <a:t> </a:t>
            </a:r>
            <a:r>
              <a:rPr lang="fr-FR" dirty="0" err="1"/>
              <a:t>dfs</a:t>
            </a:r>
            <a:r>
              <a:rPr lang="fr-FR" dirty="0"/>
              <a:t> -cat /user/root/</a:t>
            </a:r>
            <a:r>
              <a:rPr lang="fr-FR" dirty="0" err="1"/>
              <a:t>supermarket_data</a:t>
            </a:r>
            <a:r>
              <a:rPr lang="fr-FR" dirty="0"/>
              <a:t>/part-m-00000 </a:t>
            </a:r>
          </a:p>
        </p:txBody>
      </p:sp>
      <p:sp>
        <p:nvSpPr>
          <p:cNvPr id="14" name="Ellipse 13"/>
          <p:cNvSpPr/>
          <p:nvPr/>
        </p:nvSpPr>
        <p:spPr>
          <a:xfrm>
            <a:off x="3563888" y="4941168"/>
            <a:ext cx="4104456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*) Lire data</a:t>
            </a:r>
          </a:p>
          <a:p>
            <a:pPr algn="ctr"/>
            <a:r>
              <a:rPr lang="fr-FR" dirty="0" smtClean="0"/>
              <a:t>*) j’ai le droit d’</a:t>
            </a:r>
            <a:r>
              <a:rPr lang="fr-FR" dirty="0" err="1" smtClean="0"/>
              <a:t>accés</a:t>
            </a:r>
            <a:endParaRPr lang="fr-FR" dirty="0"/>
          </a:p>
        </p:txBody>
      </p:sp>
      <p:cxnSp>
        <p:nvCxnSpPr>
          <p:cNvPr id="16" name="Connecteur en angle 15"/>
          <p:cNvCxnSpPr/>
          <p:nvPr/>
        </p:nvCxnSpPr>
        <p:spPr>
          <a:xfrm>
            <a:off x="2699792" y="4725144"/>
            <a:ext cx="1008112" cy="504056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45850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1263" y="341313"/>
            <a:ext cx="6500812" cy="6180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210011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83164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>
                <a:solidFill>
                  <a:schemeClr val="accent5"/>
                </a:solidFill>
              </a:rPr>
              <a:t>Exécution de </a:t>
            </a:r>
            <a:r>
              <a:rPr lang="fr-FR" dirty="0">
                <a:solidFill>
                  <a:schemeClr val="accent5"/>
                </a:solidFill>
              </a:rPr>
              <a:t>l'importation </a:t>
            </a:r>
            <a:r>
              <a:rPr lang="fr-FR" dirty="0" err="1">
                <a:solidFill>
                  <a:schemeClr val="accent5"/>
                </a:solidFill>
              </a:rPr>
              <a:t>Sqoop</a:t>
            </a:r>
            <a:r>
              <a:rPr lang="fr-FR" dirty="0">
                <a:solidFill>
                  <a:schemeClr val="accent5"/>
                </a:solidFill>
              </a:rPr>
              <a:t> pour transférer des données de MySQL vers HDFS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7504" y="764704"/>
            <a:ext cx="82089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accent5"/>
                </a:solidFill>
              </a:rPr>
              <a:t>Utilise le mode direct pour une importation plus rapide et spécifie un seul mapper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66272" y="1516142"/>
            <a:ext cx="814257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accent5"/>
                </a:solidFill>
              </a:rPr>
              <a:t>Les données seront stockées dans le répertoire HDFS spécifié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9648" y="2388613"/>
            <a:ext cx="724676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err="1"/>
              <a:t>sqoop</a:t>
            </a:r>
            <a:r>
              <a:rPr lang="fr-FR" dirty="0"/>
              <a:t> import --</a:t>
            </a:r>
            <a:r>
              <a:rPr lang="fr-FR" dirty="0" err="1"/>
              <a:t>connect</a:t>
            </a:r>
            <a:r>
              <a:rPr lang="fr-FR" dirty="0"/>
              <a:t> </a:t>
            </a:r>
            <a:r>
              <a:rPr lang="fr-FR" dirty="0" err="1"/>
              <a:t>jdbc:mysql</a:t>
            </a:r>
            <a:r>
              <a:rPr lang="fr-FR" dirty="0"/>
              <a:t>://</a:t>
            </a:r>
            <a:r>
              <a:rPr lang="fr-FR" dirty="0" err="1"/>
              <a:t>localhost</a:t>
            </a:r>
            <a:r>
              <a:rPr lang="fr-FR" dirty="0"/>
              <a:t>/</a:t>
            </a:r>
            <a:r>
              <a:rPr lang="fr-FR" dirty="0" err="1"/>
              <a:t>supermarket_data</a:t>
            </a:r>
            <a:r>
              <a:rPr lang="fr-FR" dirty="0"/>
              <a:t> --</a:t>
            </a:r>
            <a:r>
              <a:rPr lang="fr-FR" dirty="0" err="1"/>
              <a:t>username</a:t>
            </a:r>
            <a:r>
              <a:rPr lang="fr-FR" dirty="0"/>
              <a:t> root --</a:t>
            </a:r>
            <a:r>
              <a:rPr lang="fr-FR" dirty="0" err="1"/>
              <a:t>password</a:t>
            </a:r>
            <a:r>
              <a:rPr lang="fr-FR" dirty="0"/>
              <a:t> </a:t>
            </a:r>
            <a:r>
              <a:rPr lang="fr-FR" dirty="0" err="1"/>
              <a:t>cloudera</a:t>
            </a:r>
            <a:r>
              <a:rPr lang="fr-FR" dirty="0"/>
              <a:t> --table </a:t>
            </a:r>
            <a:r>
              <a:rPr lang="fr-FR" dirty="0" err="1"/>
              <a:t>supermarket_sales</a:t>
            </a:r>
            <a:r>
              <a:rPr lang="fr-FR" dirty="0"/>
              <a:t> --</a:t>
            </a:r>
            <a:r>
              <a:rPr lang="fr-FR" dirty="0" err="1"/>
              <a:t>target-dir</a:t>
            </a:r>
            <a:r>
              <a:rPr lang="fr-FR" dirty="0"/>
              <a:t> /user/root/</a:t>
            </a:r>
            <a:r>
              <a:rPr lang="fr-FR" dirty="0" err="1"/>
              <a:t>supermarket_data</a:t>
            </a:r>
            <a:r>
              <a:rPr lang="fr-FR" dirty="0"/>
              <a:t> --m 1 --direct</a:t>
            </a:r>
          </a:p>
        </p:txBody>
      </p:sp>
      <p:cxnSp>
        <p:nvCxnSpPr>
          <p:cNvPr id="9" name="Connecteur en arc 8"/>
          <p:cNvCxnSpPr/>
          <p:nvPr/>
        </p:nvCxnSpPr>
        <p:spPr>
          <a:xfrm>
            <a:off x="0" y="2348880"/>
            <a:ext cx="1043608" cy="341456"/>
          </a:xfrm>
          <a:prstGeom prst="curved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lipse 10"/>
          <p:cNvSpPr/>
          <p:nvPr/>
        </p:nvSpPr>
        <p:spPr>
          <a:xfrm>
            <a:off x="192533" y="4581128"/>
            <a:ext cx="3731395" cy="20882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show databases;</a:t>
            </a:r>
          </a:p>
          <a:p>
            <a:pPr algn="ctr"/>
            <a:r>
              <a:rPr lang="en-US" dirty="0" err="1"/>
              <a:t>supermarket_data</a:t>
            </a:r>
            <a:endParaRPr lang="en-US" dirty="0"/>
          </a:p>
          <a:p>
            <a:pPr algn="ctr"/>
            <a:r>
              <a:rPr lang="en-US" dirty="0"/>
              <a:t>use </a:t>
            </a:r>
            <a:r>
              <a:rPr lang="en-US" dirty="0" err="1"/>
              <a:t>supermarket_data</a:t>
            </a:r>
            <a:r>
              <a:rPr lang="en-US" dirty="0"/>
              <a:t>;</a:t>
            </a:r>
          </a:p>
          <a:p>
            <a:pPr algn="ctr"/>
            <a:r>
              <a:rPr lang="en-US" dirty="0"/>
              <a:t>show tables;</a:t>
            </a:r>
            <a:endParaRPr lang="fr-FR" dirty="0"/>
          </a:p>
        </p:txBody>
      </p:sp>
      <p:sp>
        <p:nvSpPr>
          <p:cNvPr id="12" name="Rectangle 11"/>
          <p:cNvSpPr/>
          <p:nvPr/>
        </p:nvSpPr>
        <p:spPr>
          <a:xfrm>
            <a:off x="120917" y="4016862"/>
            <a:ext cx="22322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i="1" u="sng" dirty="0" smtClean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NOTE :</a:t>
            </a:r>
            <a:endParaRPr lang="fr-FR" b="1" i="1" u="sng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6930" y="4236583"/>
            <a:ext cx="1616075" cy="25047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4252403"/>
            <a:ext cx="2664296" cy="2473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962343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Vérification :</a:t>
            </a:r>
            <a:endParaRPr lang="fr-FR" dirty="0"/>
          </a:p>
        </p:txBody>
      </p:sp>
      <p:sp>
        <p:nvSpPr>
          <p:cNvPr id="4" name="Rectangle 3"/>
          <p:cNvSpPr/>
          <p:nvPr/>
        </p:nvSpPr>
        <p:spPr>
          <a:xfrm>
            <a:off x="1547664" y="2060848"/>
            <a:ext cx="669674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err="1"/>
              <a:t>sudo</a:t>
            </a:r>
            <a:r>
              <a:rPr lang="fr-FR" dirty="0"/>
              <a:t> service </a:t>
            </a:r>
            <a:r>
              <a:rPr lang="fr-FR" dirty="0" err="1"/>
              <a:t>hadoop-hdfs-namenode</a:t>
            </a:r>
            <a:r>
              <a:rPr lang="fr-FR" dirty="0"/>
              <a:t> </a:t>
            </a:r>
            <a:r>
              <a:rPr lang="fr-FR" dirty="0" err="1"/>
              <a:t>start</a:t>
            </a:r>
            <a:endParaRPr lang="fr-FR" dirty="0"/>
          </a:p>
          <a:p>
            <a:r>
              <a:rPr lang="fr-FR" dirty="0" err="1"/>
              <a:t>sudo</a:t>
            </a:r>
            <a:r>
              <a:rPr lang="fr-FR" dirty="0"/>
              <a:t> service </a:t>
            </a:r>
            <a:r>
              <a:rPr lang="fr-FR" dirty="0" err="1"/>
              <a:t>hadoop-hdfs-datanode</a:t>
            </a:r>
            <a:r>
              <a:rPr lang="fr-FR" dirty="0"/>
              <a:t> </a:t>
            </a:r>
            <a:r>
              <a:rPr lang="fr-FR" dirty="0" err="1"/>
              <a:t>start</a:t>
            </a:r>
            <a:endParaRPr lang="fr-FR" dirty="0"/>
          </a:p>
          <a:p>
            <a:r>
              <a:rPr lang="fr-FR" dirty="0" err="1"/>
              <a:t>sudo</a:t>
            </a:r>
            <a:r>
              <a:rPr lang="fr-FR" dirty="0"/>
              <a:t> service </a:t>
            </a:r>
            <a:r>
              <a:rPr lang="fr-FR" dirty="0" err="1"/>
              <a:t>hadoop-yarn-resourcemanager</a:t>
            </a:r>
            <a:r>
              <a:rPr lang="fr-FR" dirty="0"/>
              <a:t> </a:t>
            </a:r>
            <a:r>
              <a:rPr lang="fr-FR" dirty="0" err="1"/>
              <a:t>start</a:t>
            </a:r>
            <a:endParaRPr lang="fr-FR" dirty="0"/>
          </a:p>
          <a:p>
            <a:r>
              <a:rPr lang="fr-FR" dirty="0" err="1"/>
              <a:t>sudo</a:t>
            </a:r>
            <a:r>
              <a:rPr lang="fr-FR" dirty="0"/>
              <a:t> service </a:t>
            </a:r>
            <a:r>
              <a:rPr lang="fr-FR" dirty="0" err="1"/>
              <a:t>hadoop-yarn-nodemanager</a:t>
            </a:r>
            <a:r>
              <a:rPr lang="fr-FR" dirty="0"/>
              <a:t> </a:t>
            </a:r>
            <a:r>
              <a:rPr lang="fr-FR" dirty="0" err="1"/>
              <a:t>start</a:t>
            </a:r>
            <a:endParaRPr lang="fr-FR" dirty="0"/>
          </a:p>
          <a:p>
            <a:r>
              <a:rPr lang="fr-FR" dirty="0" err="1"/>
              <a:t>sudo</a:t>
            </a:r>
            <a:r>
              <a:rPr lang="fr-FR" dirty="0"/>
              <a:t> service </a:t>
            </a:r>
            <a:r>
              <a:rPr lang="fr-FR" dirty="0" err="1"/>
              <a:t>hadoop-mapreduce-historyserver</a:t>
            </a:r>
            <a:r>
              <a:rPr lang="fr-FR" dirty="0"/>
              <a:t> </a:t>
            </a:r>
            <a:r>
              <a:rPr lang="fr-FR" dirty="0" err="1"/>
              <a:t>start</a:t>
            </a:r>
            <a:endParaRPr lang="fr-FR" dirty="0"/>
          </a:p>
          <a:p>
            <a:r>
              <a:rPr lang="fr-FR" dirty="0" err="1"/>
              <a:t>sudo</a:t>
            </a:r>
            <a:r>
              <a:rPr lang="fr-FR" dirty="0"/>
              <a:t> -u </a:t>
            </a:r>
            <a:r>
              <a:rPr lang="fr-FR" dirty="0" err="1"/>
              <a:t>hdfs</a:t>
            </a:r>
            <a:r>
              <a:rPr lang="fr-FR" dirty="0"/>
              <a:t> </a:t>
            </a:r>
            <a:r>
              <a:rPr lang="fr-FR" dirty="0" err="1"/>
              <a:t>hdfs</a:t>
            </a:r>
            <a:r>
              <a:rPr lang="fr-FR" dirty="0"/>
              <a:t> </a:t>
            </a:r>
            <a:r>
              <a:rPr lang="fr-FR" dirty="0" err="1"/>
              <a:t>dfsadmin</a:t>
            </a:r>
            <a:r>
              <a:rPr lang="fr-FR" dirty="0"/>
              <a:t> -</a:t>
            </a:r>
            <a:r>
              <a:rPr lang="fr-FR" dirty="0" err="1"/>
              <a:t>safemode</a:t>
            </a:r>
            <a:r>
              <a:rPr lang="fr-FR" dirty="0"/>
              <a:t> </a:t>
            </a:r>
            <a:r>
              <a:rPr lang="fr-FR" dirty="0" err="1"/>
              <a:t>leave</a:t>
            </a:r>
            <a:endParaRPr lang="fr-FR" dirty="0"/>
          </a:p>
          <a:p>
            <a:r>
              <a:rPr lang="fr-FR" dirty="0" err="1"/>
              <a:t>hdfs</a:t>
            </a:r>
            <a:r>
              <a:rPr lang="fr-FR" dirty="0"/>
              <a:t> </a:t>
            </a:r>
            <a:r>
              <a:rPr lang="fr-FR" dirty="0" err="1"/>
              <a:t>dfs</a:t>
            </a:r>
            <a:r>
              <a:rPr lang="fr-FR" dirty="0"/>
              <a:t> -ls /user/root/</a:t>
            </a:r>
            <a:r>
              <a:rPr lang="fr-FR" dirty="0" err="1"/>
              <a:t>supermarket_data</a:t>
            </a:r>
            <a:endParaRPr lang="fr-FR" dirty="0"/>
          </a:p>
          <a:p>
            <a:r>
              <a:rPr lang="fr-FR" dirty="0" err="1"/>
              <a:t>hdfs</a:t>
            </a:r>
            <a:r>
              <a:rPr lang="fr-FR" dirty="0"/>
              <a:t> </a:t>
            </a:r>
            <a:r>
              <a:rPr lang="fr-FR" dirty="0" err="1"/>
              <a:t>dfs</a:t>
            </a:r>
            <a:r>
              <a:rPr lang="fr-FR" dirty="0"/>
              <a:t> -cat /user/root/</a:t>
            </a:r>
            <a:r>
              <a:rPr lang="fr-FR" dirty="0" err="1"/>
              <a:t>supermarket_data</a:t>
            </a:r>
            <a:r>
              <a:rPr lang="fr-FR" dirty="0"/>
              <a:t>/part-m-00000 </a:t>
            </a:r>
          </a:p>
        </p:txBody>
      </p:sp>
      <p:cxnSp>
        <p:nvCxnSpPr>
          <p:cNvPr id="6" name="Connecteur en arc 5"/>
          <p:cNvCxnSpPr/>
          <p:nvPr/>
        </p:nvCxnSpPr>
        <p:spPr>
          <a:xfrm>
            <a:off x="251520" y="1772816"/>
            <a:ext cx="1152128" cy="504056"/>
          </a:xfrm>
          <a:prstGeom prst="curved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24838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39552" y="2844224"/>
            <a:ext cx="6946261" cy="8002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4600" dirty="0"/>
              <a:t>CONFIGURATION </a:t>
            </a:r>
            <a:r>
              <a:rPr lang="fr-FR" sz="4600" dirty="0" smtClean="0"/>
              <a:t>DU </a:t>
            </a:r>
            <a:r>
              <a:rPr lang="fr-FR" sz="4600" dirty="0" smtClean="0">
                <a:solidFill>
                  <a:srgbClr val="FF0000"/>
                </a:solidFill>
              </a:rPr>
              <a:t>FLUME</a:t>
            </a:r>
            <a:endParaRPr lang="fr-FR" sz="4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426262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3</a:t>
            </a:r>
            <a:r>
              <a:rPr lang="fr-FR" dirty="0" smtClean="0"/>
              <a:t> éme </a:t>
            </a:r>
            <a:r>
              <a:rPr lang="fr-FR" dirty="0"/>
              <a:t>vérification : </a:t>
            </a:r>
            <a:r>
              <a:rPr lang="fr-FR" b="1" i="1" u="sng" dirty="0" smtClean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FLUME</a:t>
            </a:r>
            <a:endParaRPr lang="fr-FR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865" y="2276872"/>
            <a:ext cx="6988020" cy="20162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" name="Connecteur en angle 6"/>
          <p:cNvCxnSpPr>
            <a:endCxn id="3" idx="2"/>
          </p:cNvCxnSpPr>
          <p:nvPr/>
        </p:nvCxnSpPr>
        <p:spPr>
          <a:xfrm>
            <a:off x="1619672" y="4397457"/>
            <a:ext cx="3466526" cy="1515819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llipse 2"/>
          <p:cNvSpPr/>
          <p:nvPr/>
        </p:nvSpPr>
        <p:spPr>
          <a:xfrm>
            <a:off x="5086198" y="5445224"/>
            <a:ext cx="3240360" cy="93610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u="sng" dirty="0"/>
              <a:t>la version </a:t>
            </a:r>
            <a:r>
              <a:rPr lang="fr-FR" b="1" u="sng" dirty="0"/>
              <a:t>1.6.0-cdh5.12.0</a:t>
            </a:r>
            <a:endParaRPr lang="fr-FR" u="sng" dirty="0"/>
          </a:p>
        </p:txBody>
      </p:sp>
      <p:sp>
        <p:nvSpPr>
          <p:cNvPr id="6" name="Rectangle 5"/>
          <p:cNvSpPr/>
          <p:nvPr/>
        </p:nvSpPr>
        <p:spPr>
          <a:xfrm>
            <a:off x="179512" y="1628800"/>
            <a:ext cx="34563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/>
              <a:t>        </a:t>
            </a:r>
            <a:r>
              <a:rPr lang="fr-FR" dirty="0" err="1" smtClean="0"/>
              <a:t>flume-ng</a:t>
            </a:r>
            <a:r>
              <a:rPr lang="fr-FR" dirty="0" smtClean="0"/>
              <a:t> version</a:t>
            </a:r>
            <a:endParaRPr lang="fr-FR" dirty="0"/>
          </a:p>
        </p:txBody>
      </p:sp>
      <p:cxnSp>
        <p:nvCxnSpPr>
          <p:cNvPr id="13" name="Connecteur en arc 12"/>
          <p:cNvCxnSpPr/>
          <p:nvPr/>
        </p:nvCxnSpPr>
        <p:spPr>
          <a:xfrm>
            <a:off x="3946" y="1553078"/>
            <a:ext cx="643637" cy="258276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420977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916832"/>
            <a:ext cx="8064896" cy="4348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Connecteur en arc 4"/>
          <p:cNvCxnSpPr/>
          <p:nvPr/>
        </p:nvCxnSpPr>
        <p:spPr>
          <a:xfrm>
            <a:off x="179512" y="897402"/>
            <a:ext cx="720080" cy="360040"/>
          </a:xfrm>
          <a:prstGeom prst="curved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928413" y="1072776"/>
            <a:ext cx="7200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/>
              <a:t>https://archive.apache.org/dist/flume/1.9.0/apache-flume-1.9.0-bin.tar.gz</a:t>
            </a:r>
          </a:p>
        </p:txBody>
      </p:sp>
      <p:sp>
        <p:nvSpPr>
          <p:cNvPr id="7" name="Rectangle 6"/>
          <p:cNvSpPr/>
          <p:nvPr/>
        </p:nvSpPr>
        <p:spPr>
          <a:xfrm>
            <a:off x="188637" y="188640"/>
            <a:ext cx="46713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accent5"/>
                </a:solidFill>
              </a:rPr>
              <a:t>Télécharger </a:t>
            </a:r>
            <a:r>
              <a:rPr lang="fr-FR" dirty="0" err="1">
                <a:solidFill>
                  <a:schemeClr val="accent5"/>
                </a:solidFill>
              </a:rPr>
              <a:t>Flume</a:t>
            </a:r>
            <a:r>
              <a:rPr lang="fr-FR" dirty="0">
                <a:solidFill>
                  <a:schemeClr val="accent5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8828783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4" y="0"/>
            <a:ext cx="8379189" cy="3322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Connecteur en arc 4"/>
          <p:cNvCxnSpPr/>
          <p:nvPr/>
        </p:nvCxnSpPr>
        <p:spPr>
          <a:xfrm>
            <a:off x="179512" y="4365104"/>
            <a:ext cx="1008112" cy="288032"/>
          </a:xfrm>
          <a:prstGeom prst="curved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1540" y="3729806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accent5"/>
                </a:solidFill>
              </a:rPr>
              <a:t>Extraction  :</a:t>
            </a:r>
          </a:p>
          <a:p>
            <a:r>
              <a:rPr lang="fr-FR" dirty="0"/>
              <a:t>	</a:t>
            </a:r>
          </a:p>
          <a:p>
            <a:r>
              <a:rPr lang="fr-FR" dirty="0"/>
              <a:t>	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7624" y="4468470"/>
            <a:ext cx="36387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/>
              <a:t>tar -</a:t>
            </a:r>
            <a:r>
              <a:rPr lang="fr-FR" dirty="0" err="1"/>
              <a:t>xzf</a:t>
            </a:r>
            <a:r>
              <a:rPr lang="fr-FR" dirty="0"/>
              <a:t> apache-flume-1.9.0-bin.tar.gz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7950" y="5081292"/>
            <a:ext cx="7848302" cy="17728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0818219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3528" y="260648"/>
            <a:ext cx="38164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i="1" u="sng" dirty="0" err="1" smtClean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Convertion</a:t>
            </a:r>
            <a:r>
              <a:rPr lang="fr-FR" b="1" i="1" u="sng" dirty="0" smtClean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du </a:t>
            </a:r>
            <a:r>
              <a:rPr lang="fr-FR" b="1" i="1" u="sng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fichier de csv à log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208932"/>
            <a:ext cx="5997575" cy="443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5873250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28800"/>
            <a:ext cx="8640960" cy="4824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179512" y="188640"/>
            <a:ext cx="23706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i="1" u="sng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</a:t>
            </a:r>
            <a:r>
              <a:rPr lang="fr-FR" b="1" i="1" u="sng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figuration </a:t>
            </a:r>
            <a:r>
              <a:rPr lang="fr-FR" b="1" i="1" u="sng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 </a:t>
            </a:r>
            <a:r>
              <a:rPr lang="fr-FR" b="1" i="1" u="sng" dirty="0" err="1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flume</a:t>
            </a:r>
            <a:endParaRPr lang="fr-FR" b="1" i="1" u="sng" dirty="0">
              <a:solidFill>
                <a:schemeClr val="tx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151263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tiguïté">
  <a:themeElements>
    <a:clrScheme name="Contiguïté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ntiguïté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2907</TotalTime>
  <Words>1049</Words>
  <Application>Microsoft Office PowerPoint</Application>
  <PresentationFormat>Affichage à l'écran (4:3)</PresentationFormat>
  <Paragraphs>197</Paragraphs>
  <Slides>49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49</vt:i4>
      </vt:variant>
    </vt:vector>
  </HeadingPairs>
  <TitlesOfParts>
    <vt:vector size="50" baseType="lpstr">
      <vt:lpstr>Contiguïté</vt:lpstr>
      <vt:lpstr>Guide de projet Big Data</vt:lpstr>
      <vt:lpstr>IMPORTATION DE CLOUDERA</vt:lpstr>
      <vt:lpstr>Télèchargement :</vt:lpstr>
      <vt:lpstr>Importation de Cloudera</vt:lpstr>
      <vt:lpstr>Présentation PowerPoint</vt:lpstr>
      <vt:lpstr>Les commandes</vt:lpstr>
      <vt:lpstr>1 ére vérification :S’il existe KAFKA </vt:lpstr>
      <vt:lpstr>INSTALLATION DE KAFKA</vt:lpstr>
      <vt:lpstr>Solution :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CONFIGURATION DU  SQOOP</vt:lpstr>
      <vt:lpstr>2 éme vérification : S’ il existe SQOOP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Vérification :</vt:lpstr>
      <vt:lpstr>Présentation PowerPoint</vt:lpstr>
      <vt:lpstr>3 éme vérification : FLUME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Guide de projet Big Data</dc:title>
  <dc:creator>INES</dc:creator>
  <cp:lastModifiedBy>INES</cp:lastModifiedBy>
  <cp:revision>174</cp:revision>
  <dcterms:created xsi:type="dcterms:W3CDTF">2025-03-03T22:59:13Z</dcterms:created>
  <dcterms:modified xsi:type="dcterms:W3CDTF">2025-03-22T09:45:02Z</dcterms:modified>
</cp:coreProperties>
</file>